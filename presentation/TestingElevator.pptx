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300" r:id="rId3"/>
    <p:sldId id="328" r:id="rId4"/>
    <p:sldId id="317" r:id="rId5"/>
    <p:sldId id="299" r:id="rId6"/>
    <p:sldId id="318" r:id="rId7"/>
    <p:sldId id="337" r:id="rId8"/>
    <p:sldId id="333" r:id="rId9"/>
    <p:sldId id="326" r:id="rId10"/>
    <p:sldId id="309" r:id="rId11"/>
    <p:sldId id="308" r:id="rId12"/>
    <p:sldId id="282" r:id="rId13"/>
    <p:sldId id="327" r:id="rId14"/>
    <p:sldId id="340" r:id="rId15"/>
    <p:sldId id="332" r:id="rId16"/>
    <p:sldId id="338" r:id="rId17"/>
    <p:sldId id="311" r:id="rId18"/>
    <p:sldId id="339" r:id="rId19"/>
    <p:sldId id="289" r:id="rId20"/>
    <p:sldId id="307" r:id="rId21"/>
    <p:sldId id="290" r:id="rId22"/>
    <p:sldId id="314" r:id="rId23"/>
    <p:sldId id="310" r:id="rId24"/>
    <p:sldId id="291" r:id="rId25"/>
    <p:sldId id="306" r:id="rId26"/>
    <p:sldId id="341" r:id="rId27"/>
    <p:sldId id="313" r:id="rId28"/>
    <p:sldId id="312" r:id="rId29"/>
    <p:sldId id="293" r:id="rId30"/>
    <p:sldId id="304" r:id="rId31"/>
    <p:sldId id="297" r:id="rId32"/>
    <p:sldId id="342" r:id="rId33"/>
    <p:sldId id="316" r:id="rId34"/>
    <p:sldId id="298" r:id="rId35"/>
    <p:sldId id="303" r:id="rId36"/>
    <p:sldId id="294" r:id="rId37"/>
    <p:sldId id="335" r:id="rId38"/>
    <p:sldId id="295" r:id="rId39"/>
    <p:sldId id="329" r:id="rId40"/>
    <p:sldId id="330" r:id="rId41"/>
    <p:sldId id="331" r:id="rId42"/>
    <p:sldId id="325" r:id="rId43"/>
    <p:sldId id="302" r:id="rId44"/>
    <p:sldId id="324" r:id="rId45"/>
    <p:sldId id="301" r:id="rId46"/>
    <p:sldId id="280" r:id="rId47"/>
    <p:sldId id="257" r:id="rId48"/>
    <p:sldId id="273" r:id="rId49"/>
    <p:sldId id="259" r:id="rId50"/>
    <p:sldId id="277" r:id="rId51"/>
    <p:sldId id="274" r:id="rId52"/>
    <p:sldId id="279" r:id="rId53"/>
    <p:sldId id="275" r:id="rId54"/>
    <p:sldId id="276" r:id="rId55"/>
    <p:sldId id="278" r:id="rId5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A1AA"/>
    <a:srgbClr val="F59E0B"/>
    <a:srgbClr val="9056DC"/>
    <a:srgbClr val="3A82F7"/>
    <a:srgbClr val="22C55E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53"/>
    <p:restoredTop sz="83264"/>
  </p:normalViewPr>
  <p:slideViewPr>
    <p:cSldViewPr snapToGrid="0">
      <p:cViewPr varScale="1">
        <p:scale>
          <a:sx n="104" d="100"/>
          <a:sy n="104" d="100"/>
        </p:scale>
        <p:origin x="1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51712-63AE-C945-95D3-DED5D683E810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7AC42-712B-4A46-A0E1-9D5D5B4FFD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95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826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852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986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Container Definition</a:t>
            </a: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DockerComposeYml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Lift Container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Calls via HTTP-Files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Postman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91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5741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E956-94A0-445F-011E-E74239CF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28F86C-10E1-30C9-0EC4-C658DF2F9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59B63A7-8531-45B8-1D98-7536F1C6F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4E0B5D-5931-EAB9-6816-B94141A99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771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F6997-C560-3B08-5EB2-FA6D2E8A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2905D6F-BA70-E0F9-00A7-F3B6D602F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48EC97-147A-8C87-3A36-DD4CB521D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EAAB3E-FF83-1BBB-4F67-6F40C88E9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7AC42-712B-4A46-A0E1-9D5D5B4FFDDE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908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3F26D-F2CF-4F53-C1AA-595142B4E7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D21344-D037-C210-D66F-2FB97E1EF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60CEBA-5F34-BBB3-9F42-94889F34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25BDA3F-1C60-2E4A-9EA7-BC082EDF3A23}" type="datetimeFigureOut">
              <a:rPr lang="de-DE" smtClean="0"/>
              <a:pPr/>
              <a:t>19.03.26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BDE42A-8CC2-B9F8-99E5-9B01E289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499352-B4FE-B25E-37DB-E60EB7FF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150C21D7-0F2A-0147-BBB3-30BB25CA4BC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7784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6FBD3-ACF3-EB24-F8CB-3DC903B5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642FDF-EDFB-7518-66F3-1F9CEF172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A82906-B8AE-8BF5-300A-90807D9F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25BDA3F-1C60-2E4A-9EA7-BC082EDF3A23}" type="datetimeFigureOut">
              <a:rPr lang="de-DE" smtClean="0"/>
              <a:pPr/>
              <a:t>19.03.26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F09686-8026-20CB-E97B-D72B197C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020052-F834-1860-D141-7BB70E0E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150C21D7-0F2A-0147-BBB3-30BB25CA4BC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55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A17F3-E25E-F3DF-1567-6F2A93EE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8AC0FE-DC58-0456-9A4F-1B7DD3A40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23F77F-6505-7FE1-F9EF-156CD9DCC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D93E07-E6F8-4FF8-AA8F-6A3AB71A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396BEA-8473-31EE-115B-CA3EB5D8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47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A8CB4D-848E-B157-2333-9E7B5F40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40C1FD-5BC5-AB62-7CF9-8D5C1A661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F4C5AF-E454-46D4-5F80-0B08D86C7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7C2C61-DBBA-CCC3-D17C-325F6A94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BA8C65-D59E-B7D3-AB52-986A821C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892185-FDFB-AC80-90C2-1BCA1B1D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30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9E901-B3A8-262D-9721-C879D289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62D503-BF2E-324A-92C2-2E5C36393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85FEF5-2E33-3E41-2B12-F8F3D53E2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A9D388-203A-7ED9-2B06-EA5356892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89FA3F9-9444-A2DB-4931-9084EA5B0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031062-33CE-F9E0-6B59-CFA6A28C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DE49D74-2D03-F94B-86BA-53274F9E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EB3E741-2D4D-03D6-24F3-C89D0162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86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F9CEC-1C1B-78F2-52E7-D8B6143A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B2E045B-E99B-4DBD-886E-42F3A629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F0A563-6D71-D597-E6BC-4189FB33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614AD9-5086-5804-2597-06304E61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84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E1E5AC-EF63-DBA9-4CF9-C7FCAADA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2AAEF8A-0EC5-3FB7-D0DF-A4CE5EC3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F08C8D-A1A3-EB53-1468-5EF27C87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43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2537E-CA38-46BE-B284-0DBB6D930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C6AEB7-A55A-D9C5-ED88-62300F3C8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829035-D9FF-2EFA-CE00-569FF280A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9BD1A3-072F-8AE9-B4EB-81E5F472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C2F789-2AF1-8CE6-2C6C-93EACA8D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6E264E-490E-E70D-3763-89BB6D1C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418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FFEEA-B53F-5674-B156-F88B9CD0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A16245-EEC5-C93A-792D-005E22B47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00C572-B413-9D28-6435-25BBFF04E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63BF38-052B-B22C-8534-17FEFE62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E35882-BFAD-FDA9-A9E4-890AA18F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608300-ED96-2B6E-BE55-B063CDBB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705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DCEB80-10E2-2FBB-B7AD-D77299A8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35D9A5-819E-34D6-58ED-8BA08CA8D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B40D1F-DABD-966F-45F3-7B585862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A1B92C-05C4-E8B3-320F-825A57A3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8E57D2-4D31-A51C-092A-8FE0DAED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564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84C4FD7-8C5F-2EEA-9468-69DCA9400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6C2817-682C-8622-6C27-625E0BCFA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38C9C-BD04-A1B5-20E2-6D8D538A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DA3F-1C60-2E4A-9EA7-BC082EDF3A23}" type="datetimeFigureOut">
              <a:rPr lang="de-DE" smtClean="0"/>
              <a:t>19.03.26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0DBF94-DD1B-4125-85EE-CA84522E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17F263-6DE0-C126-113F-E967D43E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21D7-0F2A-0147-BBB3-30BB25CA4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74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75CE09-FC10-AF17-E944-B7D45301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ACC766-5569-136D-3832-0CF1746F1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BC76BC-B2C0-993A-66EA-EE5BD652C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25BDA3F-1C60-2E4A-9EA7-BC082EDF3A23}" type="datetimeFigureOut">
              <a:rPr lang="de-DE" smtClean="0"/>
              <a:pPr/>
              <a:t>19.03.26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F2A3E8-12A8-53CE-39EA-CFE9D5E82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F5466-1311-24DE-F568-EA635C273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150C21D7-0F2A-0147-BBB3-30BB25CA4BC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11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79C2E2D-359E-D329-3BD2-9E65FD32E2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1FD465-3C4E-ABFE-530B-CD9364D5E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Testing</a:t>
            </a:r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-Elevator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6DD2B2-E801-49A1-DC3B-89996EB5D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9486"/>
            <a:ext cx="9144000" cy="1208314"/>
          </a:xfrm>
        </p:spPr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Mutationen, Testcontainer</a:t>
            </a:r>
            <a:b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&amp; Lastsimulation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BEC76A0-0448-9B06-E8D4-92039658E0E4}"/>
              </a:ext>
            </a:extLst>
          </p:cNvPr>
          <p:cNvSpPr txBox="1">
            <a:spLocks/>
          </p:cNvSpPr>
          <p:nvPr/>
        </p:nvSpPr>
        <p:spPr>
          <a:xfrm>
            <a:off x="1524000" y="5257800"/>
            <a:ext cx="9144000" cy="1208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Abseits des bekannten Unittests gibt es noch mehr</a:t>
            </a:r>
            <a:br>
              <a:rPr lang="de-DE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—</a:t>
            </a:r>
            <a:br>
              <a:rPr lang="de-DE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Technikdemonstration auf verschiedenen Testebenen</a:t>
            </a:r>
          </a:p>
        </p:txBody>
      </p:sp>
    </p:spTree>
    <p:extLst>
      <p:ext uri="{BB962C8B-B14F-4D97-AF65-F5344CB8AC3E}">
        <p14:creationId xmlns:p14="http://schemas.microsoft.com/office/powerpoint/2010/main" val="40283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6588-842A-5A5D-6376-CA8D67A2B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73B0A80-06F3-5C37-B486-AD913553A6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9C7AAC-3CF6-3E1C-7D28-E20FEF70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Agenda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CC914F-5EDD-9E77-636C-436AE225A0BB}"/>
              </a:ext>
            </a:extLst>
          </p:cNvPr>
          <p:cNvSpPr/>
          <p:nvPr/>
        </p:nvSpPr>
        <p:spPr>
          <a:xfrm>
            <a:off x="1746901" y="1700784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Fazit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&amp;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Fragerunde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……………………………………………………………………………………………………………………………………………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86CF3ED-A4E3-9832-80C5-66BE0A8A11A3}"/>
              </a:ext>
            </a:extLst>
          </p:cNvPr>
          <p:cNvSpPr/>
          <p:nvPr/>
        </p:nvSpPr>
        <p:spPr>
          <a:xfrm>
            <a:off x="1746901" y="2450463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Lasttest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………………………………………………………………………………………………………………………………………………………………………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DDDF607-5778-7925-2E9D-01179B1426C3}"/>
              </a:ext>
            </a:extLst>
          </p:cNvPr>
          <p:cNvSpPr/>
          <p:nvPr/>
        </p:nvSpPr>
        <p:spPr>
          <a:xfrm>
            <a:off x="1746901" y="3220202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Integrationstest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…………………………………………………………………………………………………………………………………………………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87FB27B-E407-8982-ADFB-4F41E28EBCA9}"/>
              </a:ext>
            </a:extLst>
          </p:cNvPr>
          <p:cNvSpPr/>
          <p:nvPr/>
        </p:nvSpPr>
        <p:spPr>
          <a:xfrm>
            <a:off x="1746901" y="4741055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Mutation Testing …………………………………………………………………………………………………………………………………………………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479C3ED-EB88-2162-F6F3-3B4EF2D16D8A}"/>
              </a:ext>
            </a:extLst>
          </p:cNvPr>
          <p:cNvSpPr/>
          <p:nvPr/>
        </p:nvSpPr>
        <p:spPr>
          <a:xfrm>
            <a:off x="1746901" y="5555610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Unittests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&amp; Coverage – das Fundament ……………………………………………………………………………………………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607E0F8-9A84-8228-617F-C914A5B29A21}"/>
              </a:ext>
            </a:extLst>
          </p:cNvPr>
          <p:cNvSpPr/>
          <p:nvPr/>
        </p:nvSpPr>
        <p:spPr>
          <a:xfrm>
            <a:off x="9925218" y="5545805"/>
            <a:ext cx="1363053" cy="441438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~10 min</a:t>
            </a:r>
            <a:endParaRPr lang="en-US" sz="12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60365202-44BF-A230-9A6D-AB2323B7AB52}"/>
              </a:ext>
            </a:extLst>
          </p:cNvPr>
          <p:cNvGrpSpPr/>
          <p:nvPr/>
        </p:nvGrpSpPr>
        <p:grpSpPr>
          <a:xfrm>
            <a:off x="791705" y="1690688"/>
            <a:ext cx="681985" cy="4303712"/>
            <a:chOff x="791705" y="1783218"/>
            <a:chExt cx="681985" cy="4165578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D41A666C-AE0A-9F3F-EFEC-29F82FF30C43}"/>
                </a:ext>
              </a:extLst>
            </p:cNvPr>
            <p:cNvSpPr/>
            <p:nvPr/>
          </p:nvSpPr>
          <p:spPr>
            <a:xfrm>
              <a:off x="1109609" y="1999034"/>
              <a:ext cx="45719" cy="3733946"/>
            </a:xfrm>
            <a:prstGeom prst="rect">
              <a:avLst/>
            </a:prstGeom>
            <a:solidFill>
              <a:srgbClr val="3F3F46"/>
            </a:solidFill>
            <a:ln w="12700">
              <a:solidFill>
                <a:srgbClr val="3F3F46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B0FBE876-30FE-F269-A41E-4C92A03BD197}"/>
                </a:ext>
              </a:extLst>
            </p:cNvPr>
            <p:cNvSpPr/>
            <p:nvPr/>
          </p:nvSpPr>
          <p:spPr>
            <a:xfrm>
              <a:off x="791705" y="1783218"/>
              <a:ext cx="681526" cy="431633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F+Q&amp;A</a:t>
              </a: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EEA8C33-FA73-4291-D3E6-6EB418FC757B}"/>
                </a:ext>
              </a:extLst>
            </p:cNvPr>
            <p:cNvSpPr/>
            <p:nvPr/>
          </p:nvSpPr>
          <p:spPr>
            <a:xfrm>
              <a:off x="791705" y="5517163"/>
              <a:ext cx="681526" cy="431633"/>
            </a:xfrm>
            <a:prstGeom prst="rect">
              <a:avLst/>
            </a:prstGeom>
            <a:solidFill>
              <a:srgbClr val="A1A1AA"/>
            </a:solidFill>
            <a:ln w="12700">
              <a:solidFill>
                <a:srgbClr val="A1A1A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UG</a:t>
              </a:r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D165C370-C53E-3B23-3F64-40843D303830}"/>
                </a:ext>
              </a:extLst>
            </p:cNvPr>
            <p:cNvSpPr/>
            <p:nvPr/>
          </p:nvSpPr>
          <p:spPr>
            <a:xfrm>
              <a:off x="792164" y="2516691"/>
              <a:ext cx="681526" cy="431633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RT</a:t>
              </a: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8590813E-3565-1DA1-CB48-EB6F5603C206}"/>
                </a:ext>
              </a:extLst>
            </p:cNvPr>
            <p:cNvSpPr/>
            <p:nvPr/>
          </p:nvSpPr>
          <p:spPr>
            <a:xfrm>
              <a:off x="792164" y="4000519"/>
              <a:ext cx="681526" cy="431633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MG</a:t>
              </a:r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8BA2129C-ECC3-CC18-9E95-01E02BE785B0}"/>
                </a:ext>
              </a:extLst>
            </p:cNvPr>
            <p:cNvSpPr/>
            <p:nvPr/>
          </p:nvSpPr>
          <p:spPr>
            <a:xfrm>
              <a:off x="792164" y="4735679"/>
              <a:ext cx="681526" cy="431633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EG</a:t>
              </a:r>
            </a:p>
          </p:txBody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40740066-A4D0-54D8-BB1D-07A42AEA1EB4}"/>
                </a:ext>
              </a:extLst>
            </p:cNvPr>
            <p:cNvSpPr/>
            <p:nvPr/>
          </p:nvSpPr>
          <p:spPr>
            <a:xfrm>
              <a:off x="792164" y="3256714"/>
              <a:ext cx="681526" cy="431633"/>
            </a:xfrm>
            <a:prstGeom prst="rect">
              <a:avLst/>
            </a:prstGeom>
            <a:solidFill>
              <a:srgbClr val="9056DC"/>
            </a:solidFill>
            <a:ln w="1270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OG</a:t>
              </a:r>
            </a:p>
          </p:txBody>
        </p:sp>
      </p:grpSp>
      <p:sp>
        <p:nvSpPr>
          <p:cNvPr id="39" name="Text 17">
            <a:extLst>
              <a:ext uri="{FF2B5EF4-FFF2-40B4-BE49-F238E27FC236}">
                <a16:creationId xmlns:a16="http://schemas.microsoft.com/office/drawing/2014/main" id="{AECB4B42-D4B3-D93C-EE8E-A9341C13DDBC}"/>
              </a:ext>
            </a:extLst>
          </p:cNvPr>
          <p:cNvSpPr/>
          <p:nvPr/>
        </p:nvSpPr>
        <p:spPr>
          <a:xfrm>
            <a:off x="1746901" y="3989941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Containerization …………………………………………………………………………………………………………………………………………………</a:t>
            </a:r>
            <a:endParaRPr lang="en-US" sz="16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2C5D26CB-5BC0-86F3-4250-6D0D30D912B6}"/>
              </a:ext>
            </a:extLst>
          </p:cNvPr>
          <p:cNvSpPr/>
          <p:nvPr/>
        </p:nvSpPr>
        <p:spPr>
          <a:xfrm>
            <a:off x="9925217" y="4743309"/>
            <a:ext cx="1363053" cy="441438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~15 min</a:t>
            </a:r>
            <a:endParaRPr lang="en-US" sz="12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89502C54-72F0-CD51-1228-A59765095A5F}"/>
              </a:ext>
            </a:extLst>
          </p:cNvPr>
          <p:cNvSpPr/>
          <p:nvPr/>
        </p:nvSpPr>
        <p:spPr>
          <a:xfrm>
            <a:off x="9925216" y="3980136"/>
            <a:ext cx="1363053" cy="441438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~5 min</a:t>
            </a:r>
            <a:endParaRPr lang="en-US" sz="12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35E61152-6A2D-7224-2A9E-783803A09229}"/>
              </a:ext>
            </a:extLst>
          </p:cNvPr>
          <p:cNvSpPr/>
          <p:nvPr/>
        </p:nvSpPr>
        <p:spPr>
          <a:xfrm>
            <a:off x="9925216" y="3210397"/>
            <a:ext cx="1363053" cy="441438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~15 min</a:t>
            </a:r>
            <a:endParaRPr lang="en-US" sz="12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FC46521E-2C5E-C264-50F2-A71F5850C528}"/>
              </a:ext>
            </a:extLst>
          </p:cNvPr>
          <p:cNvSpPr/>
          <p:nvPr/>
        </p:nvSpPr>
        <p:spPr>
          <a:xfrm>
            <a:off x="9925216" y="2447224"/>
            <a:ext cx="1363053" cy="441438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~15 min</a:t>
            </a:r>
            <a:endParaRPr lang="en-US" sz="12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4" name="Shape 29">
            <a:extLst>
              <a:ext uri="{FF2B5EF4-FFF2-40B4-BE49-F238E27FC236}">
                <a16:creationId xmlns:a16="http://schemas.microsoft.com/office/drawing/2014/main" id="{A581E4AB-4839-13E0-E098-6D58BCBF62E1}"/>
              </a:ext>
            </a:extLst>
          </p:cNvPr>
          <p:cNvSpPr/>
          <p:nvPr/>
        </p:nvSpPr>
        <p:spPr>
          <a:xfrm>
            <a:off x="9925215" y="1692942"/>
            <a:ext cx="1363053" cy="441438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rest</a:t>
            </a:r>
            <a:endParaRPr lang="en-US" sz="12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4A8C7C6-79C5-A9C2-8CBF-07AB5DFFE535}"/>
              </a:ext>
            </a:extLst>
          </p:cNvPr>
          <p:cNvCxnSpPr>
            <a:cxnSpLocks/>
          </p:cNvCxnSpPr>
          <p:nvPr/>
        </p:nvCxnSpPr>
        <p:spPr>
          <a:xfrm flipV="1">
            <a:off x="390418" y="1913661"/>
            <a:ext cx="0" cy="3857767"/>
          </a:xfrm>
          <a:prstGeom prst="straightConnector1">
            <a:avLst/>
          </a:prstGeom>
          <a:ln w="508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30A93190-C291-BDEA-3F41-6A89315C6BCA}"/>
              </a:ext>
            </a:extLst>
          </p:cNvPr>
          <p:cNvSpPr/>
          <p:nvPr/>
        </p:nvSpPr>
        <p:spPr>
          <a:xfrm>
            <a:off x="720675" y="4721368"/>
            <a:ext cx="9141500" cy="482724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ADFCB1A-8C52-37F6-57DC-05835FF85BB6}"/>
              </a:ext>
            </a:extLst>
          </p:cNvPr>
          <p:cNvSpPr/>
          <p:nvPr/>
        </p:nvSpPr>
        <p:spPr>
          <a:xfrm>
            <a:off x="720675" y="3977608"/>
            <a:ext cx="9141500" cy="482724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7E646FA-24C8-7DAD-330A-C1B4AED4ABBB}"/>
              </a:ext>
            </a:extLst>
          </p:cNvPr>
          <p:cNvSpPr/>
          <p:nvPr/>
        </p:nvSpPr>
        <p:spPr>
          <a:xfrm>
            <a:off x="720675" y="3210397"/>
            <a:ext cx="9141500" cy="482724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F63524F-A85E-D991-C320-2A796581BF25}"/>
              </a:ext>
            </a:extLst>
          </p:cNvPr>
          <p:cNvSpPr/>
          <p:nvPr/>
        </p:nvSpPr>
        <p:spPr>
          <a:xfrm>
            <a:off x="720675" y="2432211"/>
            <a:ext cx="9141500" cy="482724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19BAF68-A871-DEFE-093E-8AC6DC68697A}"/>
              </a:ext>
            </a:extLst>
          </p:cNvPr>
          <p:cNvSpPr/>
          <p:nvPr/>
        </p:nvSpPr>
        <p:spPr>
          <a:xfrm>
            <a:off x="1746901" y="6206805"/>
            <a:ext cx="8178317" cy="43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TG .pre </a:t>
            </a:r>
            <a:r>
              <a:rPr lang="en-US" sz="1600" strike="sngStrike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Tiefgarage</a:t>
            </a:r>
            <a:r>
              <a:rPr lang="en-US" sz="1600" strike="sngStrike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/ </a:t>
            </a:r>
            <a:r>
              <a:rPr lang="en-US" sz="1600" strike="sngStrike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Baugrund</a:t>
            </a:r>
            <a:r>
              <a:rPr lang="en-US" sz="1600" strike="sngStrike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/ </a:t>
            </a:r>
            <a:r>
              <a:rPr lang="en-US" sz="1600" strike="sngStrike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Grundlagen</a:t>
            </a:r>
            <a:r>
              <a:rPr lang="en-US" sz="1600" strike="sngStrike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/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Planungsphase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 ………………………………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6274FEB-43A6-B0CD-6C57-197DDA167200}"/>
              </a:ext>
            </a:extLst>
          </p:cNvPr>
          <p:cNvSpPr/>
          <p:nvPr/>
        </p:nvSpPr>
        <p:spPr>
          <a:xfrm>
            <a:off x="718183" y="5533349"/>
            <a:ext cx="4831590" cy="482724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4EF3448-DA92-F6E5-EB5F-819DF5E7C5E5}"/>
              </a:ext>
            </a:extLst>
          </p:cNvPr>
          <p:cNvSpPr/>
          <p:nvPr/>
        </p:nvSpPr>
        <p:spPr>
          <a:xfrm>
            <a:off x="718183" y="1669633"/>
            <a:ext cx="9141500" cy="482724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81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  <p:bldP spid="20" grpId="0" animBg="1"/>
      <p:bldP spid="24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E98BF6-D10A-8DAE-28A8-F975FCE23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75" y="103025"/>
            <a:ext cx="11986649" cy="665194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Vom Keller in die </a:t>
            </a:r>
            <a:r>
              <a:rPr lang="de-DE" dirty="0" err="1">
                <a:solidFill>
                  <a:srgbClr val="C00000"/>
                </a:solidFill>
              </a:rPr>
              <a:t>Skylounge</a:t>
            </a:r>
            <a:r>
              <a:rPr lang="de-DE" dirty="0">
                <a:solidFill>
                  <a:srgbClr val="C00000"/>
                </a:solidFill>
              </a:rPr>
              <a:t> — der Spannungsbogen: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Unittest:    "Unsere Validierung ist grün. Alles gut?"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             ↓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Mutation:    "Nein — </a:t>
            </a:r>
            <a:r>
              <a:rPr lang="de-DE" dirty="0" err="1">
                <a:solidFill>
                  <a:srgbClr val="C00000"/>
                </a:solidFill>
              </a:rPr>
              <a:t>Pitest</a:t>
            </a:r>
            <a:r>
              <a:rPr lang="de-DE" dirty="0">
                <a:solidFill>
                  <a:srgbClr val="C00000"/>
                </a:solidFill>
              </a:rPr>
              <a:t> zeigt: unsere Tests sind blind.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              Wir fixen es. Jetzt vertrauen wir ihnen."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             ↓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Integration: "Der Service läuft — aber spricht er wirklich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              korrekt mit der Datenbank?"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             ↓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C00000"/>
                </a:solidFill>
              </a:rPr>
              <a:t>Lasttest</a:t>
            </a:r>
            <a:r>
              <a:rPr lang="de-DE" dirty="0">
                <a:solidFill>
                  <a:srgbClr val="C00000"/>
                </a:solidFill>
              </a:rPr>
              <a:t>:    "Alles grün, alles getestet —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              und trotzdem bricht der Service ein."</a:t>
            </a:r>
          </a:p>
          <a:p>
            <a:pPr marL="0" indent="0">
              <a:buNone/>
            </a:pPr>
            <a:endParaRPr lang="de-DE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Die dramaturgische Logik dahinter: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Jede Ebene gibt dem Publikum ein falsches Sicherheitsgefühl — und die nächste Ebene bricht es auf.</a:t>
            </a:r>
          </a:p>
          <a:p>
            <a:pPr marL="0" indent="0">
              <a:buNone/>
            </a:pPr>
            <a:endParaRPr lang="de-DE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Nach dem Unittest denken alle: "passt"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Mutation </a:t>
            </a:r>
            <a:r>
              <a:rPr lang="de-DE" dirty="0" err="1">
                <a:solidFill>
                  <a:srgbClr val="C00000"/>
                </a:solidFill>
              </a:rPr>
              <a:t>Testing</a:t>
            </a:r>
            <a:r>
              <a:rPr lang="de-DE" dirty="0">
                <a:solidFill>
                  <a:srgbClr val="C00000"/>
                </a:solidFill>
              </a:rPr>
              <a:t> sagt: "dachtest du"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Nach dem Fix + Integrationstest denken alle: "jetzt aber wirklich"</a:t>
            </a: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Der </a:t>
            </a:r>
            <a:r>
              <a:rPr lang="de-DE" dirty="0" err="1">
                <a:solidFill>
                  <a:srgbClr val="C00000"/>
                </a:solidFill>
              </a:rPr>
              <a:t>Lasttest</a:t>
            </a:r>
            <a:r>
              <a:rPr lang="de-DE" dirty="0">
                <a:solidFill>
                  <a:srgbClr val="C00000"/>
                </a:solidFill>
              </a:rPr>
              <a:t> sagt: "willkommen in der Realität"</a:t>
            </a:r>
          </a:p>
          <a:p>
            <a:pPr marL="0" indent="0">
              <a:buNone/>
            </a:pPr>
            <a:endParaRPr lang="de-DE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Das ist kein negativer Abschluss — sondern die ehrliche Botschaft: kein einzelnes Testwerkzeug reicht allein. Jede Ebene schützt vor etwas anderem.</a:t>
            </a:r>
          </a:p>
          <a:p>
            <a:pPr marL="0" indent="0">
              <a:buNone/>
            </a:pPr>
            <a:endParaRPr lang="de-DE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Schlusssatz für deinen Vortrag, wenn der Grafana-Graph einbricht:</a:t>
            </a:r>
          </a:p>
          <a:p>
            <a:pPr marL="0" indent="0">
              <a:buNone/>
            </a:pPr>
            <a:endParaRPr lang="de-DE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C00000"/>
                </a:solidFill>
              </a:rPr>
              <a:t>"Alle Tests waren grün. Die Validierung stimmt. Die DB-Anbindung funktioniert.</a:t>
            </a:r>
            <a:br>
              <a:rPr lang="de-DE" dirty="0">
                <a:solidFill>
                  <a:srgbClr val="C00000"/>
                </a:solidFill>
              </a:rPr>
            </a:br>
            <a:r>
              <a:rPr lang="de-DE" dirty="0">
                <a:solidFill>
                  <a:srgbClr val="C00000"/>
                </a:solidFill>
              </a:rPr>
              <a:t>Und trotzdem — 4096 Bit RSA, 50 gleichzeitige User, und der Service liegt auf dem Boden. Willkommen im </a:t>
            </a:r>
            <a:r>
              <a:rPr lang="de-DE" dirty="0" err="1">
                <a:solidFill>
                  <a:srgbClr val="C00000"/>
                </a:solidFill>
              </a:rPr>
              <a:t>Lasttest</a:t>
            </a:r>
            <a:r>
              <a:rPr lang="de-DE" dirty="0">
                <a:solidFill>
                  <a:srgbClr val="C00000"/>
                </a:solidFill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407679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FC3AB8-DB26-324E-15BE-7206D5AD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– Expertise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282A62-2E0D-044A-C877-2E3208D2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Frontend Entwickler			Angular</a:t>
            </a:r>
          </a:p>
          <a:p>
            <a:pPr marL="0" indent="0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	vvv</a:t>
            </a: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Java Entwickler				Spring Boot</a:t>
            </a:r>
          </a:p>
          <a:p>
            <a:pPr marL="0" indent="0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	vvv</a:t>
            </a: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IT-Solution Architekt			DevOps</a:t>
            </a:r>
          </a:p>
          <a:p>
            <a:pPr marL="0" indent="0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	vvv</a:t>
            </a: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IT-Business Architekt			Geschäftsprozesse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41946A1-95F1-3E3E-7075-1F6E024F4D18}"/>
              </a:ext>
            </a:extLst>
          </p:cNvPr>
          <p:cNvSpPr/>
          <p:nvPr/>
        </p:nvSpPr>
        <p:spPr>
          <a:xfrm>
            <a:off x="3923656" y="5903716"/>
            <a:ext cx="1958193" cy="592334"/>
          </a:xfrm>
          <a:prstGeom prst="rect">
            <a:avLst/>
          </a:prstGeom>
          <a:noFill/>
          <a:ln w="31750">
            <a:solidFill>
              <a:srgbClr val="9056D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Coding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1A56C9D-FAB7-9C05-617F-1BCFB61711E1}"/>
              </a:ext>
            </a:extLst>
          </p:cNvPr>
          <p:cNvSpPr/>
          <p:nvPr/>
        </p:nvSpPr>
        <p:spPr>
          <a:xfrm>
            <a:off x="776555" y="2775022"/>
            <a:ext cx="4648200" cy="592334"/>
          </a:xfrm>
          <a:prstGeom prst="rect">
            <a:avLst/>
          </a:prstGeom>
          <a:noFill/>
          <a:ln w="31750">
            <a:solidFill>
              <a:srgbClr val="9056D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6C01591-4CE4-5F7B-9ABC-DDE0544FAE18}"/>
              </a:ext>
            </a:extLst>
          </p:cNvPr>
          <p:cNvSpPr/>
          <p:nvPr/>
        </p:nvSpPr>
        <p:spPr>
          <a:xfrm>
            <a:off x="6310153" y="5903716"/>
            <a:ext cx="1958193" cy="592334"/>
          </a:xfrm>
          <a:prstGeom prst="rect">
            <a:avLst/>
          </a:prstGeom>
          <a:noFill/>
          <a:ln w="31750">
            <a:solidFill>
              <a:srgbClr val="9056DC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Zusammenhänge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BB274D2-5DE5-F610-446F-A6DAE89DB97B}"/>
              </a:ext>
            </a:extLst>
          </p:cNvPr>
          <p:cNvSpPr/>
          <p:nvPr/>
        </p:nvSpPr>
        <p:spPr>
          <a:xfrm>
            <a:off x="7165369" y="2775022"/>
            <a:ext cx="2468961" cy="592334"/>
          </a:xfrm>
          <a:prstGeom prst="rect">
            <a:avLst/>
          </a:prstGeom>
          <a:noFill/>
          <a:ln w="31750">
            <a:solidFill>
              <a:srgbClr val="9056D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7B49D77-93DF-2F33-FF85-46E846457008}"/>
              </a:ext>
            </a:extLst>
          </p:cNvPr>
          <p:cNvSpPr/>
          <p:nvPr/>
        </p:nvSpPr>
        <p:spPr>
          <a:xfrm>
            <a:off x="7165368" y="3788131"/>
            <a:ext cx="2468961" cy="592334"/>
          </a:xfrm>
          <a:prstGeom prst="rect">
            <a:avLst/>
          </a:prstGeom>
          <a:noFill/>
          <a:ln w="31750">
            <a:solidFill>
              <a:srgbClr val="9056D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47FDC85-0046-0465-4E89-33139A0E1F82}"/>
              </a:ext>
            </a:extLst>
          </p:cNvPr>
          <p:cNvSpPr/>
          <p:nvPr/>
        </p:nvSpPr>
        <p:spPr>
          <a:xfrm>
            <a:off x="776555" y="3798404"/>
            <a:ext cx="4648200" cy="1585253"/>
          </a:xfrm>
          <a:prstGeom prst="rect">
            <a:avLst/>
          </a:prstGeom>
          <a:noFill/>
          <a:ln w="31750">
            <a:solidFill>
              <a:srgbClr val="9056DC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51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67D6-8F2F-805D-6F12-94C7A183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9CCCBE-B1FF-9DD2-4255-6881391D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- Einordnung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5AD547-BBEB-B62B-83CC-DDFEC54BF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Tests sind kein Selbstzweck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Software `funktioniert` auch ohne Tests ..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.. so wie im Quellcode definiert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Große Macht bedeutet große Verantwortung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Kein Test ist `explizit nötig`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Es sind `nur Tests`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Es geht hier `nur um eine Versicherung`</a:t>
            </a:r>
          </a:p>
          <a:p>
            <a:pPr lvl="2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Sich die Folgen des `nicht Testens` bewusst machen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Fehler sind menschlich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330D931-4BB5-2FCA-20FB-7DA63B26A3C3}"/>
              </a:ext>
            </a:extLst>
          </p:cNvPr>
          <p:cNvSpPr/>
          <p:nvPr/>
        </p:nvSpPr>
        <p:spPr>
          <a:xfrm rot="660000">
            <a:off x="8487260" y="4488849"/>
            <a:ext cx="3191088" cy="472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Winkender &amp; grinsender Bot mit einem brennenden Computer im Hintergrund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2C60451-17B4-D35D-46FD-708E24890310}"/>
              </a:ext>
            </a:extLst>
          </p:cNvPr>
          <p:cNvGrpSpPr/>
          <p:nvPr/>
        </p:nvGrpSpPr>
        <p:grpSpPr>
          <a:xfrm rot="660000">
            <a:off x="9252487" y="2326905"/>
            <a:ext cx="2186553" cy="2186553"/>
            <a:chOff x="9407470" y="2396647"/>
            <a:chExt cx="2186553" cy="2186553"/>
          </a:xfrm>
        </p:grpSpPr>
        <p:pic>
          <p:nvPicPr>
            <p:cNvPr id="10244" name="Picture 4" descr="A cute red OpenClaw bot mascot, android-like and friendly, with a big playful grin and large expressive eyes, happily waving. Smooth rounded body shapes, minimal mechanical details, soft plastic-like surfaces, simple claw-shaped hands, cartoon mascot style similar to modern tech company mascots. Bright red color, clean and colorful design, cheerful and welcoming personality.&#10;&#10;In the side background, a computer is humorously on fire with bright cartoon-style flames and a little smoke, creating a playful chaotic tech scene. The mascot remains calm and cheerful despite the burning computer.&#10;&#10;Deep gray background, strong contrast, vibrant colors popping against the dark backdrop, soft lighting on the mascot, subtle glow from the flames, high detail, polished 3D cartoon render.">
              <a:extLst>
                <a:ext uri="{FF2B5EF4-FFF2-40B4-BE49-F238E27FC236}">
                  <a16:creationId xmlns:a16="http://schemas.microsoft.com/office/drawing/2014/main" id="{CA81B364-F686-353D-EC12-786CBA2968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7470" y="2396647"/>
              <a:ext cx="2186553" cy="2186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8C85B38-E46B-7B94-0C93-845561E020EB}"/>
                </a:ext>
              </a:extLst>
            </p:cNvPr>
            <p:cNvSpPr/>
            <p:nvPr/>
          </p:nvSpPr>
          <p:spPr>
            <a:xfrm>
              <a:off x="9407470" y="2396647"/>
              <a:ext cx="2186553" cy="2186553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3116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86827-8061-24E9-C2D1-ABB76071A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–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09E477-836A-523F-582D-DCBAA37F8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Verständnis für verschiedene Test-Sichten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Verringerung der `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Unknown-unknowns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Konzeptvermittlung ..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Anstelle von Klickanleitungen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“Konzentriert euch auf die Ideen – der Code ist nur Schmuck”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Toolchain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sichtbar machen ..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`Wie geht das?`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Keine Antwort auf ..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`Warum sollte ich testen?`</a:t>
            </a:r>
          </a:p>
        </p:txBody>
      </p:sp>
    </p:spTree>
    <p:extLst>
      <p:ext uri="{BB962C8B-B14F-4D97-AF65-F5344CB8AC3E}">
        <p14:creationId xmlns:p14="http://schemas.microsoft.com/office/powerpoint/2010/main" val="175306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05689-02AD-24A1-EEEF-04A9966B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BED7D-2DB4-ACF9-3434-CF0C2EF6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– Java Microservice</a:t>
            </a:r>
            <a:endParaRPr lang="de-DE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00BBC3F4-C18D-F23B-EE72-C715C1CD9CE3}"/>
              </a:ext>
            </a:extLst>
          </p:cNvPr>
          <p:cNvGrpSpPr/>
          <p:nvPr/>
        </p:nvGrpSpPr>
        <p:grpSpPr>
          <a:xfrm>
            <a:off x="552851" y="2192776"/>
            <a:ext cx="3617036" cy="3617036"/>
            <a:chOff x="1127616" y="2453093"/>
            <a:chExt cx="3617036" cy="361703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A16624-689E-B184-AC9C-93F4724432AC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50A315A-108C-422B-46C6-1A1B18FA8444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1FC63E4-5860-658F-38F6-3EE423AA9EF4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5DB43D-42C0-B290-D320-48E2686613F1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E185B4-FAAE-D16C-1B42-77FFA8C0394D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F9F3509-38F0-1A77-7882-F2AA7687A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6593" y="1690688"/>
            <a:ext cx="7269480" cy="4802187"/>
          </a:xfrm>
        </p:spPr>
        <p:txBody>
          <a:bodyPr anchor="ctr">
            <a:normAutofit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Kapselung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Rest-Controller</a:t>
            </a:r>
          </a:p>
          <a:p>
            <a:pPr lvl="2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Service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Repository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Entry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204F670-C3F4-4692-AFCF-584E2C8900A6}"/>
              </a:ext>
            </a:extLst>
          </p:cNvPr>
          <p:cNvSpPr txBox="1"/>
          <p:nvPr/>
        </p:nvSpPr>
        <p:spPr>
          <a:xfrm>
            <a:off x="794073" y="6039226"/>
            <a:ext cx="3134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</a:t>
            </a:r>
            <a:endParaRPr lang="de-DE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640A474-10C0-14C5-2EA4-BF5674BEF4E0}"/>
              </a:ext>
            </a:extLst>
          </p:cNvPr>
          <p:cNvSpPr txBox="1">
            <a:spLocks/>
          </p:cNvSpPr>
          <p:nvPr/>
        </p:nvSpPr>
        <p:spPr>
          <a:xfrm>
            <a:off x="9548950" y="3723713"/>
            <a:ext cx="2553788" cy="738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latin typeface="Consolas" panose="020B0609020204030204" pitchFamily="49" charset="0"/>
                <a:cs typeface="Consolas" panose="020B0609020204030204" pitchFamily="49" charset="0"/>
              </a:rPr>
              <a:t>Anfrage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0DC33EC-CA43-6A3A-F913-FC92E0577E0A}"/>
              </a:ext>
            </a:extLst>
          </p:cNvPr>
          <p:cNvCxnSpPr>
            <a:cxnSpLocks/>
          </p:cNvCxnSpPr>
          <p:nvPr/>
        </p:nvCxnSpPr>
        <p:spPr>
          <a:xfrm>
            <a:off x="9436447" y="2929957"/>
            <a:ext cx="0" cy="2299110"/>
          </a:xfrm>
          <a:prstGeom prst="straightConnector1">
            <a:avLst/>
          </a:prstGeom>
          <a:ln w="508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98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102D8-F636-C10B-EEDD-95FCF4A5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.</a:t>
            </a:r>
            <a:r>
              <a:rPr lang="de-DE" dirty="0" err="1"/>
              <a:t>pre</a:t>
            </a:r>
            <a:r>
              <a:rPr lang="de-DE" dirty="0"/>
              <a:t> – Vorgehen (1/2)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6ECDC8F-508C-5293-93F3-79FC80FB253C}"/>
              </a:ext>
            </a:extLst>
          </p:cNvPr>
          <p:cNvGrpSpPr/>
          <p:nvPr/>
        </p:nvGrpSpPr>
        <p:grpSpPr>
          <a:xfrm>
            <a:off x="552851" y="2192776"/>
            <a:ext cx="3617036" cy="3617036"/>
            <a:chOff x="1127616" y="2453093"/>
            <a:chExt cx="3617036" cy="361703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1E32CF-054C-7637-4AED-2C623D4D74D0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401219C-788D-4991-29C7-D8BF27D7B1A4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AF68A5D-4AB9-BAA1-FDF0-B3B825C03AD5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D6B05BD-63E6-423B-84E6-61AF13FA1314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4B2AB8B-6BD3-CCA1-1674-195378F04C74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F6BBB9F-22D5-949D-E6D2-C5B0DDCBF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6593" y="1690688"/>
            <a:ext cx="7269480" cy="47776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Wie `umfassend` sind die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Testszeanarien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Lasttest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Integrationstest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Containerization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Mutationtest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Unittest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Von Innen nach Außen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496E544-26A3-FE07-396A-2A7A73E842B0}"/>
              </a:ext>
            </a:extLst>
          </p:cNvPr>
          <p:cNvCxnSpPr>
            <a:cxnSpLocks/>
          </p:cNvCxnSpPr>
          <p:nvPr/>
        </p:nvCxnSpPr>
        <p:spPr>
          <a:xfrm flipV="1">
            <a:off x="9436447" y="2929957"/>
            <a:ext cx="0" cy="2299110"/>
          </a:xfrm>
          <a:prstGeom prst="straightConnector1">
            <a:avLst/>
          </a:prstGeom>
          <a:ln w="508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BC6B4894-91D9-1FE6-6374-BEF2E8B6253E}"/>
              </a:ext>
            </a:extLst>
          </p:cNvPr>
          <p:cNvSpPr txBox="1">
            <a:spLocks/>
          </p:cNvSpPr>
          <p:nvPr/>
        </p:nvSpPr>
        <p:spPr>
          <a:xfrm>
            <a:off x="9548950" y="3723713"/>
            <a:ext cx="2553788" cy="738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2400" dirty="0">
                <a:latin typeface="Consolas" panose="020B0609020204030204" pitchFamily="49" charset="0"/>
                <a:cs typeface="Consolas" panose="020B0609020204030204" pitchFamily="49" charset="0"/>
              </a:rPr>
              <a:t>Komplexität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4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F6C3-99D7-C41A-E602-D1880E9C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8C874-13C3-E5AC-BAC2-69DB0711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– Vorgehen (2/2)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8BD506-D0E9-BE22-4334-648381414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610" y="1707560"/>
            <a:ext cx="8388780" cy="4351338"/>
          </a:xfrm>
        </p:spPr>
        <p:txBody>
          <a:bodyPr anchor="ctr"/>
          <a:lstStyle/>
          <a:p>
            <a:pPr marL="0" indent="0">
              <a:buNone/>
            </a:pPr>
            <a:r>
              <a:rPr lang="de-DE" dirty="0">
                <a:solidFill>
                  <a:srgbClr val="A2A1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>
                <a:solidFill>
                  <a:srgbClr val="22C5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Abstraktionsebenen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>
                <a:solidFill>
                  <a:srgbClr val="3A82F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nach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>
                <a:solidFill>
                  <a:srgbClr val="9056D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ähnlichem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>
                <a:solidFill>
                  <a:srgbClr val="EF444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Rezept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Technologie-Kontext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Code-Beispiele		-&gt;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DeepDive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Take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aways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repeat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4971979-DE7E-1B85-9587-11EFA4016C06}"/>
              </a:ext>
            </a:extLst>
          </p:cNvPr>
          <p:cNvGrpSpPr/>
          <p:nvPr/>
        </p:nvGrpSpPr>
        <p:grpSpPr>
          <a:xfrm>
            <a:off x="2316999" y="3339884"/>
            <a:ext cx="6563531" cy="1549832"/>
            <a:chOff x="2898182" y="3115158"/>
            <a:chExt cx="6648774" cy="196053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39B41274-8964-849C-B7E4-55BBD55DE6A3}"/>
                </a:ext>
              </a:extLst>
            </p:cNvPr>
            <p:cNvSpPr/>
            <p:nvPr/>
          </p:nvSpPr>
          <p:spPr>
            <a:xfrm>
              <a:off x="2898182" y="4683588"/>
              <a:ext cx="6648774" cy="392107"/>
            </a:xfrm>
            <a:prstGeom prst="rect">
              <a:avLst/>
            </a:prstGeom>
            <a:solidFill>
              <a:schemeClr val="bg1">
                <a:lumMod val="50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718E7FE1-E257-BB8F-17F5-3AFF883AC3AC}"/>
                </a:ext>
              </a:extLst>
            </p:cNvPr>
            <p:cNvSpPr/>
            <p:nvPr/>
          </p:nvSpPr>
          <p:spPr>
            <a:xfrm>
              <a:off x="2898182" y="4291480"/>
              <a:ext cx="6648774" cy="392107"/>
            </a:xfrm>
            <a:prstGeom prst="rect">
              <a:avLst/>
            </a:prstGeom>
            <a:solidFill>
              <a:schemeClr val="bg1">
                <a:lumMod val="50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D34BBDB-AF7A-0156-F5DA-DB800D4BC03E}"/>
                </a:ext>
              </a:extLst>
            </p:cNvPr>
            <p:cNvSpPr/>
            <p:nvPr/>
          </p:nvSpPr>
          <p:spPr>
            <a:xfrm>
              <a:off x="2898182" y="3899373"/>
              <a:ext cx="6648774" cy="392107"/>
            </a:xfrm>
            <a:prstGeom prst="rect">
              <a:avLst/>
            </a:prstGeom>
            <a:solidFill>
              <a:schemeClr val="bg1">
                <a:lumMod val="50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38B375F-972D-8FD7-64D4-636F4DFC5AAC}"/>
                </a:ext>
              </a:extLst>
            </p:cNvPr>
            <p:cNvSpPr/>
            <p:nvPr/>
          </p:nvSpPr>
          <p:spPr>
            <a:xfrm>
              <a:off x="2898182" y="3507265"/>
              <a:ext cx="6648774" cy="392107"/>
            </a:xfrm>
            <a:prstGeom prst="rect">
              <a:avLst/>
            </a:prstGeom>
            <a:solidFill>
              <a:schemeClr val="bg1">
                <a:lumMod val="50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A7CF4EE7-316F-EC8A-3407-964E11A48142}"/>
                </a:ext>
              </a:extLst>
            </p:cNvPr>
            <p:cNvSpPr/>
            <p:nvPr/>
          </p:nvSpPr>
          <p:spPr>
            <a:xfrm>
              <a:off x="2898182" y="3115158"/>
              <a:ext cx="6648774" cy="392107"/>
            </a:xfrm>
            <a:prstGeom prst="rect">
              <a:avLst/>
            </a:prstGeom>
            <a:solidFill>
              <a:schemeClr val="bg1">
                <a:lumMod val="50000"/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23D1CB7-8087-88DA-FF3F-75F713C4AFD4}"/>
              </a:ext>
            </a:extLst>
          </p:cNvPr>
          <p:cNvSpPr txBox="1">
            <a:spLocks/>
          </p:cNvSpPr>
          <p:nvPr/>
        </p:nvSpPr>
        <p:spPr>
          <a:xfrm>
            <a:off x="2487477" y="5282175"/>
            <a:ext cx="6114084" cy="894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Das -&gt; </a:t>
            </a:r>
            <a:r>
              <a:rPr lang="de-DE" b="1" dirty="0">
                <a:latin typeface="Consolas" panose="020B0609020204030204" pitchFamily="49" charset="0"/>
                <a:cs typeface="Consolas" panose="020B0609020204030204" pitchFamily="49" charset="0"/>
              </a:rPr>
              <a:t>WIE 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&lt;- steht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im Vordergrund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F72566B-2FF0-D082-598F-AFEA56B8818E}"/>
              </a:ext>
            </a:extLst>
          </p:cNvPr>
          <p:cNvSpPr/>
          <p:nvPr/>
        </p:nvSpPr>
        <p:spPr>
          <a:xfrm>
            <a:off x="4082834" y="5265303"/>
            <a:ext cx="3410598" cy="793593"/>
          </a:xfrm>
          <a:prstGeom prst="rect">
            <a:avLst/>
          </a:prstGeom>
          <a:solidFill>
            <a:schemeClr val="bg1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5955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66719-6E40-99E2-1135-94F205AD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E83054-E077-27D9-E4AB-4C2215DB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– Szenario (1/x)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C22139-1F33-2284-30B1-FE384B17C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Java SpringBoot Microservice (Funktionen)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Echo (+Zeichenkette)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Rückgabe einer übergebenen Zeichenkette</a:t>
            </a:r>
          </a:p>
          <a:p>
            <a:pPr lvl="2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Rückgabe einer zufälligen UUIDv4-Zeichenkette</a:t>
            </a:r>
          </a:p>
          <a:p>
            <a:pPr lvl="2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RSA (+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BitStärke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Server gibt den Hash eines zufälligen , frisch generierten, RSA-Key zurück -&gt; </a:t>
            </a:r>
            <a:r>
              <a:rPr lang="de-DE" u="sng" dirty="0">
                <a:latin typeface="Consolas" panose="020B0609020204030204" pitchFamily="49" charset="0"/>
                <a:cs typeface="Consolas" panose="020B0609020204030204" pitchFamily="49" charset="0"/>
              </a:rPr>
              <a:t>Rechenintensiv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1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6512-558A-82F6-A2CB-8469F3D3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461F226C-7C2A-4796-54F7-F45C7282B3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2A1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2B16EE31-2947-F071-6631-14AA3AB42A0A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AA63948-AC69-1DEB-D8C0-2246BBE0409D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3249B45-5530-AF54-482E-A0E5AC6E4852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73190F2-8187-EC66-2732-6CB55F5D5C90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B621F6EC-A3C8-8FED-3600-6ACE23C7AFFE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43CB4FBB-1395-D86D-8DE2-317CF52C282B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BA16BFA-0B64-5AE8-4F88-D5A9CAAAE696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21AC2E32-7861-1C47-5CD0-D76FD4417DA5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BCE7CA9D-5359-E797-7143-C2A3A3113482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5CAB320-BEBE-E9E1-D978-8E1DEB16C33C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EFDBB212-1031-A9F2-7B1A-30DD2918B73B}"/>
              </a:ext>
            </a:extLst>
          </p:cNvPr>
          <p:cNvSpPr/>
          <p:nvPr/>
        </p:nvSpPr>
        <p:spPr>
          <a:xfrm>
            <a:off x="457200" y="457200"/>
            <a:ext cx="1170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UG</a:t>
            </a:r>
            <a:endParaRPr lang="en-US" sz="80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6ED9BEB8-8EEF-84BF-3A3A-79B810B27485}"/>
              </a:ext>
            </a:extLst>
          </p:cNvPr>
          <p:cNvSpPr/>
          <p:nvPr/>
        </p:nvSpPr>
        <p:spPr>
          <a:xfrm>
            <a:off x="457200" y="19659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Die </a:t>
            </a:r>
            <a:r>
              <a:rPr lang="en-US" sz="3400" b="1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Grundlagen</a:t>
            </a:r>
            <a:endParaRPr lang="en-US" sz="3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9299DA18-48F0-76EB-F97D-1608FA5A4994}"/>
              </a:ext>
            </a:extLst>
          </p:cNvPr>
          <p:cNvSpPr/>
          <p:nvPr/>
        </p:nvSpPr>
        <p:spPr>
          <a:xfrm>
            <a:off x="457200" y="2834640"/>
            <a:ext cx="1621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Unittests</a:t>
            </a:r>
            <a:endParaRPr lang="en-US" sz="16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87B1-9CD5-C80F-06F0-7605E30F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BE1F09-CE24-4A2C-B5AF-2FB834D9C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F.I.R.S.T.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things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u="sng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</a:p>
          <a:p>
            <a:pPr lvl="1"/>
            <a:r>
              <a:rPr lang="de-DE" u="sng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ndependent &amp; Isolation</a:t>
            </a:r>
          </a:p>
          <a:p>
            <a:pPr lvl="1"/>
            <a:r>
              <a:rPr lang="de-DE" u="sng" dirty="0" err="1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epeatable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u="sng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elf-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Validating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u="sng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horough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Timely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Gründliche Sonderfallbetrachtung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Zeitlich vor/mit der Entwicklung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519993E-48AE-3AD3-1E4F-311010D3EF6F}"/>
              </a:ext>
            </a:extLst>
          </p:cNvPr>
          <p:cNvSpPr/>
          <p:nvPr/>
        </p:nvSpPr>
        <p:spPr>
          <a:xfrm>
            <a:off x="838200" y="2130804"/>
            <a:ext cx="4723701" cy="372471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921AE30-592B-9620-4333-4EEB7846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Untergeschoss – Die Grundlagen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9F1EDF29-EDC4-0C22-839C-6C5CB16A5BB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de-DE" dirty="0" err="1"/>
              <a:t>Trustworthiness</a:t>
            </a:r>
            <a:endParaRPr lang="de-DE" dirty="0"/>
          </a:p>
          <a:p>
            <a:pPr lvl="2"/>
            <a:r>
              <a:rPr lang="de-DE" dirty="0"/>
              <a:t>Spezifizität</a:t>
            </a:r>
          </a:p>
          <a:p>
            <a:pPr lvl="3"/>
            <a:r>
              <a:rPr lang="de-DE" dirty="0"/>
              <a:t>Testet was er testen soll</a:t>
            </a:r>
          </a:p>
          <a:p>
            <a:pPr lvl="2"/>
            <a:r>
              <a:rPr lang="de-DE" dirty="0"/>
              <a:t>Determiniertheit</a:t>
            </a:r>
          </a:p>
          <a:p>
            <a:pPr lvl="3"/>
            <a:r>
              <a:rPr lang="de-DE" dirty="0"/>
              <a:t>Gleichbleibendes Verhalten</a:t>
            </a:r>
          </a:p>
          <a:p>
            <a:pPr marL="457200" lvl="1" indent="0">
              <a:buNone/>
            </a:pPr>
            <a:br>
              <a:rPr lang="de-DE" dirty="0"/>
            </a:br>
            <a:r>
              <a:rPr lang="de-DE" dirty="0" err="1"/>
              <a:t>Maintainability</a:t>
            </a:r>
            <a:r>
              <a:rPr lang="de-DE" dirty="0"/>
              <a:t> (Wartbarkeit)</a:t>
            </a:r>
          </a:p>
          <a:p>
            <a:pPr lvl="2"/>
            <a:r>
              <a:rPr lang="de-DE" dirty="0" err="1"/>
              <a:t>Atomarität</a:t>
            </a:r>
            <a:endParaRPr lang="de-DE" dirty="0"/>
          </a:p>
          <a:p>
            <a:pPr lvl="3"/>
            <a:r>
              <a:rPr lang="de-DE" dirty="0"/>
              <a:t>Macht eine Sache richtig</a:t>
            </a:r>
          </a:p>
          <a:p>
            <a:pPr lvl="2"/>
            <a:r>
              <a:rPr lang="de-DE" dirty="0"/>
              <a:t>Expressivität</a:t>
            </a:r>
          </a:p>
          <a:p>
            <a:pPr lvl="3"/>
            <a:r>
              <a:rPr lang="de-DE" dirty="0"/>
              <a:t>Klare Absicht</a:t>
            </a:r>
          </a:p>
          <a:p>
            <a:pPr lvl="2"/>
            <a:r>
              <a:rPr lang="de-DE" dirty="0" err="1"/>
              <a:t>Readability</a:t>
            </a:r>
            <a:endParaRPr lang="de-DE" dirty="0"/>
          </a:p>
          <a:p>
            <a:pPr lvl="3"/>
            <a:r>
              <a:rPr lang="de-DE" dirty="0"/>
              <a:t>Lesbarkeit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868485F-FAFD-A110-D578-9472CF439368}"/>
              </a:ext>
            </a:extLst>
          </p:cNvPr>
          <p:cNvSpPr txBox="1">
            <a:spLocks/>
          </p:cNvSpPr>
          <p:nvPr/>
        </p:nvSpPr>
        <p:spPr>
          <a:xfrm>
            <a:off x="838200" y="6176963"/>
            <a:ext cx="10515600" cy="68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>
                <a:latin typeface="Consolas" panose="020B0609020204030204" pitchFamily="49" charset="0"/>
                <a:cs typeface="Consolas" panose="020B0609020204030204" pitchFamily="49" charset="0"/>
              </a:rPr>
              <a:t>Daka &amp; Andrews (2014): "A Survey on Unit </a:t>
            </a:r>
            <a:r>
              <a:rPr lang="de-DE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Testing</a:t>
            </a:r>
            <a:r>
              <a:rPr lang="de-DE" sz="1100" dirty="0">
                <a:latin typeface="Consolas" panose="020B0609020204030204" pitchFamily="49" charset="0"/>
                <a:cs typeface="Consolas" panose="020B0609020204030204" pitchFamily="49" charset="0"/>
              </a:rPr>
              <a:t> Practices and Problems — IEEE ICSME"</a:t>
            </a:r>
          </a:p>
          <a:p>
            <a:r>
              <a:rPr lang="de-DE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Palomba</a:t>
            </a:r>
            <a:r>
              <a:rPr lang="de-DE" sz="1100" dirty="0">
                <a:latin typeface="Consolas" panose="020B0609020204030204" pitchFamily="49" charset="0"/>
                <a:cs typeface="Consolas" panose="020B0609020204030204" pitchFamily="49" charset="0"/>
              </a:rPr>
              <a:t> et al. (2016): "Do </a:t>
            </a:r>
            <a:r>
              <a:rPr lang="de-DE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They</a:t>
            </a:r>
            <a:r>
              <a:rPr lang="de-DE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Really</a:t>
            </a:r>
            <a:r>
              <a:rPr lang="de-DE" sz="1100" dirty="0">
                <a:latin typeface="Consolas" panose="020B0609020204030204" pitchFamily="49" charset="0"/>
                <a:cs typeface="Consolas" panose="020B0609020204030204" pitchFamily="49" charset="0"/>
              </a:rPr>
              <a:t> Smell? An </a:t>
            </a:r>
            <a:r>
              <a:rPr lang="de-DE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Empirical</a:t>
            </a:r>
            <a:r>
              <a:rPr lang="de-DE" sz="1100" dirty="0">
                <a:latin typeface="Consolas" panose="020B0609020204030204" pitchFamily="49" charset="0"/>
                <a:cs typeface="Consolas" panose="020B0609020204030204" pitchFamily="49" charset="0"/>
              </a:rPr>
              <a:t> Study on Test Smells — IEEE ICSME"</a:t>
            </a:r>
          </a:p>
        </p:txBody>
      </p:sp>
      <p:cxnSp>
        <p:nvCxnSpPr>
          <p:cNvPr id="5" name="Gekrümmte Verbindung 4">
            <a:extLst>
              <a:ext uri="{FF2B5EF4-FFF2-40B4-BE49-F238E27FC236}">
                <a16:creationId xmlns:a16="http://schemas.microsoft.com/office/drawing/2014/main" id="{A28E1A9E-3A27-06F9-7B3B-5257A04E8B69}"/>
              </a:ext>
            </a:extLst>
          </p:cNvPr>
          <p:cNvCxnSpPr>
            <a:cxnSpLocks/>
          </p:cNvCxnSpPr>
          <p:nvPr/>
        </p:nvCxnSpPr>
        <p:spPr>
          <a:xfrm flipV="1">
            <a:off x="4880297" y="2758355"/>
            <a:ext cx="2090954" cy="2023370"/>
          </a:xfrm>
          <a:prstGeom prst="curvedConnector3">
            <a:avLst>
              <a:gd name="adj1" fmla="val 46389"/>
            </a:avLst>
          </a:prstGeom>
          <a:ln>
            <a:solidFill>
              <a:srgbClr val="A2A1A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krümmte Verbindung 10">
            <a:extLst>
              <a:ext uri="{FF2B5EF4-FFF2-40B4-BE49-F238E27FC236}">
                <a16:creationId xmlns:a16="http://schemas.microsoft.com/office/drawing/2014/main" id="{44168551-5AC9-022E-19F8-F2E587CE8B43}"/>
              </a:ext>
            </a:extLst>
          </p:cNvPr>
          <p:cNvCxnSpPr>
            <a:cxnSpLocks/>
          </p:cNvCxnSpPr>
          <p:nvPr/>
        </p:nvCxnSpPr>
        <p:spPr>
          <a:xfrm>
            <a:off x="5561901" y="3224671"/>
            <a:ext cx="1409350" cy="1223193"/>
          </a:xfrm>
          <a:prstGeom prst="curvedConnector3">
            <a:avLst>
              <a:gd name="adj1" fmla="val 50595"/>
            </a:avLst>
          </a:prstGeom>
          <a:ln>
            <a:solidFill>
              <a:srgbClr val="3A82F7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krümmte Verbindung 17">
            <a:extLst>
              <a:ext uri="{FF2B5EF4-FFF2-40B4-BE49-F238E27FC236}">
                <a16:creationId xmlns:a16="http://schemas.microsoft.com/office/drawing/2014/main" id="{738EBEF9-3137-14A0-CBEF-E28DCB415FA7}"/>
              </a:ext>
            </a:extLst>
          </p:cNvPr>
          <p:cNvCxnSpPr>
            <a:cxnSpLocks/>
          </p:cNvCxnSpPr>
          <p:nvPr/>
        </p:nvCxnSpPr>
        <p:spPr>
          <a:xfrm flipV="1">
            <a:off x="4126424" y="3224671"/>
            <a:ext cx="2844827" cy="407762"/>
          </a:xfrm>
          <a:prstGeom prst="curvedConnector3">
            <a:avLst>
              <a:gd name="adj1" fmla="val 78014"/>
            </a:avLst>
          </a:prstGeom>
          <a:ln>
            <a:solidFill>
              <a:srgbClr val="22C55E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krümmte Verbindung 39">
            <a:extLst>
              <a:ext uri="{FF2B5EF4-FFF2-40B4-BE49-F238E27FC236}">
                <a16:creationId xmlns:a16="http://schemas.microsoft.com/office/drawing/2014/main" id="{F93041F4-57D9-1EFD-6DB0-31B85E18F64F}"/>
              </a:ext>
            </a:extLst>
          </p:cNvPr>
          <p:cNvCxnSpPr>
            <a:cxnSpLocks/>
          </p:cNvCxnSpPr>
          <p:nvPr/>
        </p:nvCxnSpPr>
        <p:spPr>
          <a:xfrm>
            <a:off x="4880297" y="4884300"/>
            <a:ext cx="2023842" cy="218872"/>
          </a:xfrm>
          <a:prstGeom prst="curvedConnector3">
            <a:avLst>
              <a:gd name="adj1" fmla="val 46684"/>
            </a:avLst>
          </a:prstGeom>
          <a:ln>
            <a:solidFill>
              <a:srgbClr val="9056DC"/>
            </a:solidFill>
            <a:prstDash val="lgDashDot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17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1318E-9A03-60AF-1C36-BC90E226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macht einen guten Test aus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C4A456-7523-6A98-1E22-FBBC74533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Spezifizität</a:t>
            </a:r>
          </a:p>
          <a:p>
            <a:pPr lvl="1"/>
            <a:r>
              <a:rPr lang="de-DE" dirty="0"/>
              <a:t>Testet was er testen soll</a:t>
            </a:r>
          </a:p>
          <a:p>
            <a:r>
              <a:rPr lang="de-DE" dirty="0"/>
              <a:t>Finden der richtigen, gewollten, Veränderung</a:t>
            </a:r>
          </a:p>
          <a:p>
            <a:r>
              <a:rPr lang="de-DE" dirty="0"/>
              <a:t>Klarheit/Lesbarkeit</a:t>
            </a:r>
          </a:p>
          <a:p>
            <a:r>
              <a:rPr lang="de-DE" dirty="0"/>
              <a:t>Macht eine Sache richtig</a:t>
            </a:r>
          </a:p>
          <a:p>
            <a:r>
              <a:rPr lang="de-DE" dirty="0"/>
              <a:t>Schnelle Ausführung</a:t>
            </a:r>
          </a:p>
        </p:txBody>
      </p:sp>
    </p:spTree>
    <p:extLst>
      <p:ext uri="{BB962C8B-B14F-4D97-AF65-F5344CB8AC3E}">
        <p14:creationId xmlns:p14="http://schemas.microsoft.com/office/powerpoint/2010/main" val="224490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951D-0EBA-EA2B-ED5E-930DF957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7AB1B-0B00-D854-5E78-D4462850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Unittest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960AE1-F10A-7DF1-0D76-E56191919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Prämisse/Setup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Assertion-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Comparison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17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37278-B492-153D-CF87-FBA502F2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1E3075-C24B-3EC9-95C8-EE40FF8B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 #1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E7A67A-411A-0A96-B286-55C3F4BB3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Unittests</a:t>
            </a:r>
          </a:p>
        </p:txBody>
      </p:sp>
    </p:spTree>
    <p:extLst>
      <p:ext uri="{BB962C8B-B14F-4D97-AF65-F5344CB8AC3E}">
        <p14:creationId xmlns:p14="http://schemas.microsoft.com/office/powerpoint/2010/main" val="2355847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44E6-A9BB-EA82-B503-23CC4495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97366D-1867-8081-9A0B-FDDECCC1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Libraries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94538D-AEDE-F0DD-F6FF-5D4D7818D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Java</a:t>
            </a:r>
          </a:p>
          <a:p>
            <a:pPr lvl="1"/>
            <a:r>
              <a:rPr lang="de-DE" dirty="0" err="1"/>
              <a:t>Junit</a:t>
            </a:r>
            <a:endParaRPr lang="de-DE" dirty="0"/>
          </a:p>
          <a:p>
            <a:endParaRPr lang="de-DE" dirty="0"/>
          </a:p>
          <a:p>
            <a:r>
              <a:rPr lang="de-DE" dirty="0"/>
              <a:t>Vergleichbar mit ..</a:t>
            </a:r>
          </a:p>
          <a:p>
            <a:pPr lvl="1"/>
            <a:r>
              <a:rPr lang="de-DE" dirty="0"/>
              <a:t>Python</a:t>
            </a:r>
          </a:p>
          <a:p>
            <a:pPr lvl="2"/>
            <a:r>
              <a:rPr lang="de-DE" dirty="0" err="1"/>
              <a:t>pytest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JaCoCo</a:t>
            </a:r>
            <a:endParaRPr lang="de-DE" dirty="0"/>
          </a:p>
          <a:p>
            <a:pPr lvl="1"/>
            <a:r>
              <a:rPr lang="de-DE" dirty="0"/>
              <a:t>Java Code Coverage</a:t>
            </a:r>
          </a:p>
          <a:p>
            <a:pPr lvl="2"/>
            <a:r>
              <a:rPr lang="de-DE" dirty="0" err="1"/>
              <a:t>TechnicalDept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55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E7180-430D-4F25-3810-7F351900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Unittests =&gt; Testabdeckung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C98D22-AAC4-D5DC-D0AB-BAA6CD55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u="sng" dirty="0"/>
              <a:t>Code Coverage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misst, welcher Anteil des Quellcodes durch automatisierte Tests durchlaufen wird, um Testlücken sichtbar zu machen.</a:t>
            </a:r>
          </a:p>
          <a:p>
            <a:endParaRPr lang="de-DE" dirty="0"/>
          </a:p>
          <a:p>
            <a:r>
              <a:rPr lang="de-DE" dirty="0" err="1"/>
              <a:t>JaCoCo</a:t>
            </a:r>
            <a:endParaRPr lang="de-DE" dirty="0"/>
          </a:p>
          <a:p>
            <a:pPr lvl="1"/>
            <a:r>
              <a:rPr lang="de-DE" dirty="0"/>
              <a:t>Java Code Coverage</a:t>
            </a:r>
          </a:p>
          <a:p>
            <a:pPr lvl="2"/>
            <a:r>
              <a:rPr lang="de-DE" dirty="0" err="1"/>
              <a:t>TechnicalDept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2106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036E-1EDE-DDD2-DFE6-C848736D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B0DDF-6B5D-FC08-9AFB-126B8FD2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 #2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101ECB-4CED-7A6E-D29F-00EC4A5E5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Code-Coverage</a:t>
            </a:r>
          </a:p>
        </p:txBody>
      </p:sp>
    </p:spTree>
    <p:extLst>
      <p:ext uri="{BB962C8B-B14F-4D97-AF65-F5344CB8AC3E}">
        <p14:creationId xmlns:p14="http://schemas.microsoft.com/office/powerpoint/2010/main" val="645621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554B-81CD-07FF-31C7-60F803EF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92D1A1-A121-5F99-3907-E144AE5C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Take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aways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DD0AE6-4897-33C4-B3B2-6D08DAFFF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`Warum`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Viele Gründe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`Wie`-Pattern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Prämisse/Setup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Assertion-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Comparison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Generelle Abdeckung des Codes (1. Näherung)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Testabdeckung via `Code Coverage`</a:t>
            </a:r>
          </a:p>
        </p:txBody>
      </p:sp>
    </p:spTree>
    <p:extLst>
      <p:ext uri="{BB962C8B-B14F-4D97-AF65-F5344CB8AC3E}">
        <p14:creationId xmlns:p14="http://schemas.microsoft.com/office/powerpoint/2010/main" val="2566723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77E1-B6D7-2560-4761-6BD0BD32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17C5CD59-53F1-F1AF-4101-D77F172BB3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F6BDCF7-FAB6-0E91-3D84-F590D15630D3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289B4D9C-6FAC-A3F4-245C-F6A643DDCC45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899CD94-D608-B16D-9F9D-5B91B58041C7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A4830A0-3A67-10DD-A8ED-71D3D0353ECF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2675A48-F041-0908-8295-117FCEF7EAD6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E30B2814-DC93-3387-CDA2-A5EE78E66171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9F13554-A23B-9310-356D-E372DE4322F5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0ADD8C8-12D7-9D30-14E2-73E019E3C229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DCC20E7A-D7B5-54F1-8706-329DDC0A20FD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A30CDBF-C014-6FC3-7748-5C9E1E213F2D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3274C99-C0A0-7D45-DF99-6E9CA40E886C}"/>
              </a:ext>
            </a:extLst>
          </p:cNvPr>
          <p:cNvSpPr/>
          <p:nvPr/>
        </p:nvSpPr>
        <p:spPr>
          <a:xfrm>
            <a:off x="457200" y="457200"/>
            <a:ext cx="1170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EG</a:t>
            </a:r>
            <a:endParaRPr lang="en-US" sz="80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76874B-D0DD-CD2C-B5BA-4E253957A946}"/>
              </a:ext>
            </a:extLst>
          </p:cNvPr>
          <p:cNvSpPr/>
          <p:nvPr/>
        </p:nvSpPr>
        <p:spPr>
          <a:xfrm>
            <a:off x="457199" y="1965960"/>
            <a:ext cx="57586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Mutation Testing</a:t>
            </a:r>
            <a:endParaRPr lang="en-US" sz="3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ABC82F-CA6B-550A-0061-F1C61D5AB672}"/>
              </a:ext>
            </a:extLst>
          </p:cNvPr>
          <p:cNvSpPr/>
          <p:nvPr/>
        </p:nvSpPr>
        <p:spPr>
          <a:xfrm>
            <a:off x="457200" y="2834640"/>
            <a:ext cx="382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Mit </a:t>
            </a:r>
            <a:r>
              <a:rPr lang="en-US" sz="160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PiTest</a:t>
            </a: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-Library</a:t>
            </a:r>
          </a:p>
        </p:txBody>
      </p:sp>
    </p:spTree>
    <p:extLst>
      <p:ext uri="{BB962C8B-B14F-4D97-AF65-F5344CB8AC3E}">
        <p14:creationId xmlns:p14="http://schemas.microsoft.com/office/powerpoint/2010/main" val="3322167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049A5-8E43-C42A-D9D9-F59BE9BB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83B266-123A-A565-81E7-F19F82A5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Erdgeschoss – Mutationen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0DDAD5-686E-C4F0-F035-9AD76F7D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b="1" u="sng" dirty="0">
                <a:latin typeface="Consolas" panose="020B0609020204030204" pitchFamily="49" charset="0"/>
                <a:cs typeface="Consolas" panose="020B0609020204030204" pitchFamily="49" charset="0"/>
              </a:rPr>
              <a:t>Mutation </a:t>
            </a:r>
            <a:r>
              <a:rPr lang="de-DE" b="1" u="sng" dirty="0" err="1">
                <a:latin typeface="Consolas" panose="020B0609020204030204" pitchFamily="49" charset="0"/>
                <a:cs typeface="Consolas" panose="020B0609020204030204" pitchFamily="49" charset="0"/>
              </a:rPr>
              <a:t>Testing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überprüft die Qualität von Tests, indem gezielt kleine Änderungen (Mutationen) im Code eingeführt werden, um zu sehen, ob die Tests diese Fehler erkennen.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Die Tests testen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Unspezifische Tests erkennen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Ungewollten Veränderungen vorbeugen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337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EFFE-8887-5860-97F8-F6EC61E0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78812F-4495-28D0-6A1D-F16D0E87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Libraries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CD542E-E7AC-07A8-B844-B9D3C800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Java</a:t>
            </a: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PiTest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/>
              <a:t>Vergleichbar mit ..</a:t>
            </a:r>
          </a:p>
          <a:p>
            <a:pPr lvl="1"/>
            <a:r>
              <a:rPr lang="de-DE" dirty="0"/>
              <a:t>Python</a:t>
            </a:r>
          </a:p>
          <a:p>
            <a:pPr lvl="2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mutmut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Cosmic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Ray /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mutatest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26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D8F3B-8534-F443-80BF-48B08945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1D2776-C874-1FC2-2310-D7A3C569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 #3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42BF0D-3873-0389-297F-565640EDE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Mutationtesting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155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2CAF-0D3A-9ABC-7349-DDB6E227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0F90B3-E771-0008-A2D5-E9FAC039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Take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aways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254CA3-C819-55DE-1B4A-1B0EFA465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Verständnis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`Hohe Abdeckung` != `Vollumfängliche Tests`</a:t>
            </a:r>
          </a:p>
          <a:p>
            <a:pPr marL="0" indent="0">
              <a:buNone/>
            </a:pP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MutationTesting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ist ein Ansatz, um 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die tatsächliche Abdeckung von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UnitTests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zu verbessern</a:t>
            </a:r>
          </a:p>
        </p:txBody>
      </p:sp>
    </p:spTree>
    <p:extLst>
      <p:ext uri="{BB962C8B-B14F-4D97-AF65-F5344CB8AC3E}">
        <p14:creationId xmlns:p14="http://schemas.microsoft.com/office/powerpoint/2010/main" val="3753316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343BF-D964-C2BD-6D4E-41BC589C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4268240E-57BC-DFEE-B7D7-97B7093551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82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DFC3A90-99E5-4CFE-D742-5ECD48561CFC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03050E2-9857-8866-98DB-ED18E564E5FF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8B56A69-CFA1-D749-1F49-96C0FDF543A1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9320A04A-E801-7D8E-422C-5E2E2B7D0B6B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F101A08-08B3-D2B7-BCFC-D2582516275D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9485B78-A275-351A-2E46-655E2E4B05CD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621DE52-6002-95D8-FD84-4B2041938753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B6474950-207E-C874-646E-C865BB9D0D4E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8C992272-2527-C943-BE32-0BCBE565E301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E2C6686-A7F6-F9C7-72A5-7FD6BA6B3237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80F2BE7-B3B4-8CBD-719F-E532AD9E2C3A}"/>
              </a:ext>
            </a:extLst>
          </p:cNvPr>
          <p:cNvSpPr/>
          <p:nvPr/>
        </p:nvSpPr>
        <p:spPr>
          <a:xfrm>
            <a:off x="457200" y="457200"/>
            <a:ext cx="1170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MG</a:t>
            </a:r>
            <a:endParaRPr lang="en-US" sz="80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8655395-D22D-0D28-EDE8-1390623BAB93}"/>
              </a:ext>
            </a:extLst>
          </p:cNvPr>
          <p:cNvSpPr/>
          <p:nvPr/>
        </p:nvSpPr>
        <p:spPr>
          <a:xfrm>
            <a:off x="457199" y="1965960"/>
            <a:ext cx="57586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Containerization</a:t>
            </a:r>
            <a:endParaRPr lang="en-US" sz="3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5DFC51A-D26A-52CC-BA30-0BA934EB139D}"/>
              </a:ext>
            </a:extLst>
          </p:cNvPr>
          <p:cNvSpPr/>
          <p:nvPr/>
        </p:nvSpPr>
        <p:spPr>
          <a:xfrm>
            <a:off x="457200" y="2834640"/>
            <a:ext cx="382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Mit Docker</a:t>
            </a:r>
            <a:endParaRPr lang="en-US" sz="16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069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4079-8F9E-2AC2-E899-91CEF9B7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5F00E-1B75-F6BC-654F-47380E1A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Mittelgeschoss – 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Containerization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E495D5-2E7F-6F5B-978E-83F8D84C5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1234" cy="4351338"/>
          </a:xfrm>
        </p:spPr>
        <p:txBody>
          <a:bodyPr/>
          <a:lstStyle/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b="1" u="sng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Containerization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ist die Bereitstellung und Ausführung von Anwendungen in isolierten, portablen Containern, die alle benötigten Abhängigkeiten enthalten und konsistent über verschiedene Umgebungen hinweg laufen.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A31A939-9952-0047-F7DF-B7FA4400ABCC}"/>
              </a:ext>
            </a:extLst>
          </p:cNvPr>
          <p:cNvGrpSpPr/>
          <p:nvPr/>
        </p:nvGrpSpPr>
        <p:grpSpPr>
          <a:xfrm>
            <a:off x="9459458" y="4687659"/>
            <a:ext cx="1592380" cy="1592380"/>
            <a:chOff x="1127616" y="2453093"/>
            <a:chExt cx="3617036" cy="36170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F11CD9-F520-A531-2FB5-B809F43F97F9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DD9FB04-2368-EE41-EE46-AA2B4FDA30B9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09604AD-82D4-7501-FD41-88649804CBE8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04C6169-913B-7A67-BFAD-72D80F50F0D3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28D7CF2-7C0A-4E35-E7D3-95F958F350AE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61BABD0F-BDD9-6E48-905D-F34E085B55BD}"/>
              </a:ext>
            </a:extLst>
          </p:cNvPr>
          <p:cNvSpPr/>
          <p:nvPr/>
        </p:nvSpPr>
        <p:spPr>
          <a:xfrm>
            <a:off x="9157498" y="4296573"/>
            <a:ext cx="2196302" cy="2196302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OS-Container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2328F2A-50D2-D232-2DD3-1D2A911597B4}"/>
              </a:ext>
            </a:extLst>
          </p:cNvPr>
          <p:cNvSpPr/>
          <p:nvPr/>
        </p:nvSpPr>
        <p:spPr>
          <a:xfrm>
            <a:off x="8934010" y="3856776"/>
            <a:ext cx="2643276" cy="2787794"/>
          </a:xfrm>
          <a:prstGeom prst="rect">
            <a:avLst/>
          </a:prstGeom>
          <a:noFill/>
          <a:ln>
            <a:solidFill>
              <a:srgbClr val="A2A1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Container-Engine</a:t>
            </a:r>
          </a:p>
        </p:txBody>
      </p:sp>
    </p:spTree>
    <p:extLst>
      <p:ext uri="{BB962C8B-B14F-4D97-AF65-F5344CB8AC3E}">
        <p14:creationId xmlns:p14="http://schemas.microsoft.com/office/powerpoint/2010/main" val="268853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0604-AEBA-25BD-157E-F85B0F79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47A48-18C1-19D6-043C-4E2F2EB0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Gängige Technologien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70F47D-C728-8CE9-E8C5-DCA2DCF75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Docker</a:t>
            </a: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docker-compose.yml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Alternativ</a:t>
            </a: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Podman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containerd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8E4EEB0-E2B5-F3CB-A694-C283E3B65867}"/>
              </a:ext>
            </a:extLst>
          </p:cNvPr>
          <p:cNvGrpSpPr/>
          <p:nvPr/>
        </p:nvGrpSpPr>
        <p:grpSpPr>
          <a:xfrm>
            <a:off x="9459458" y="4687659"/>
            <a:ext cx="1592380" cy="1592380"/>
            <a:chOff x="1127616" y="2453093"/>
            <a:chExt cx="3617036" cy="36170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47A1420-C255-5306-CEE7-CA226E68FC1A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2145F26-7A52-9DE7-9B62-13DCFC6F92D8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8AC07D-9B94-7AE1-1778-8998957AF3E3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12C438-715D-A995-4F4A-0CDB5DDCDBFB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57A7606-ACF7-8A02-A6ED-DF7A84157C1E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C8781B9E-D2BF-0A81-7DF5-6DA216E0A1F9}"/>
              </a:ext>
            </a:extLst>
          </p:cNvPr>
          <p:cNvSpPr/>
          <p:nvPr/>
        </p:nvSpPr>
        <p:spPr>
          <a:xfrm>
            <a:off x="9157498" y="4296573"/>
            <a:ext cx="2196302" cy="2196302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OS-Container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5F7AF0E-6141-9A57-BF7F-E51FBFD7FF83}"/>
              </a:ext>
            </a:extLst>
          </p:cNvPr>
          <p:cNvSpPr/>
          <p:nvPr/>
        </p:nvSpPr>
        <p:spPr>
          <a:xfrm>
            <a:off x="8934010" y="3856776"/>
            <a:ext cx="2643276" cy="2787794"/>
          </a:xfrm>
          <a:prstGeom prst="rect">
            <a:avLst/>
          </a:prstGeom>
          <a:noFill/>
          <a:ln>
            <a:solidFill>
              <a:srgbClr val="A2A1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Container-Engine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7E99CE3-2436-6724-DB67-42EFB6C6F953}"/>
              </a:ext>
            </a:extLst>
          </p:cNvPr>
          <p:cNvSpPr/>
          <p:nvPr/>
        </p:nvSpPr>
        <p:spPr>
          <a:xfrm>
            <a:off x="4581053" y="3358836"/>
            <a:ext cx="7125111" cy="3417192"/>
          </a:xfrm>
          <a:prstGeom prst="rect">
            <a:avLst/>
          </a:prstGeom>
          <a:noFill/>
          <a:ln>
            <a:solidFill>
              <a:srgbClr val="A2A1AA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Host-System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D0B0220-D58B-78F0-975F-A5D277781D76}"/>
              </a:ext>
            </a:extLst>
          </p:cNvPr>
          <p:cNvSpPr/>
          <p:nvPr/>
        </p:nvSpPr>
        <p:spPr>
          <a:xfrm>
            <a:off x="5182948" y="4294555"/>
            <a:ext cx="1688632" cy="2198319"/>
          </a:xfrm>
          <a:prstGeom prst="rect">
            <a:avLst/>
          </a:prstGeom>
          <a:noFill/>
          <a:ln>
            <a:solidFill>
              <a:srgbClr val="A2A1AA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.http-</a:t>
            </a:r>
            <a:br>
              <a:rPr lang="de-D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file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149847F-EF04-BA70-E4F9-5575D22F9A2E}"/>
              </a:ext>
            </a:extLst>
          </p:cNvPr>
          <p:cNvCxnSpPr>
            <a:cxnSpLocks/>
          </p:cNvCxnSpPr>
          <p:nvPr/>
        </p:nvCxnSpPr>
        <p:spPr>
          <a:xfrm>
            <a:off x="6980222" y="5281133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3BBE0E8-4205-A427-B203-471D92AA5582}"/>
              </a:ext>
            </a:extLst>
          </p:cNvPr>
          <p:cNvCxnSpPr>
            <a:cxnSpLocks/>
          </p:cNvCxnSpPr>
          <p:nvPr/>
        </p:nvCxnSpPr>
        <p:spPr>
          <a:xfrm flipH="1">
            <a:off x="6980222" y="5585568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B7A2BEA0-718F-B7CD-B2AC-A1CF03A7E765}"/>
              </a:ext>
            </a:extLst>
          </p:cNvPr>
          <p:cNvSpPr txBox="1"/>
          <p:nvPr/>
        </p:nvSpPr>
        <p:spPr>
          <a:xfrm>
            <a:off x="6980222" y="4942637"/>
            <a:ext cx="2317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Request</a:t>
            </a:r>
            <a:endParaRPr lang="de-DE" sz="14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DEB4A1C-74B3-3C94-14AD-6ED365B11F9B}"/>
              </a:ext>
            </a:extLst>
          </p:cNvPr>
          <p:cNvSpPr txBox="1"/>
          <p:nvPr/>
        </p:nvSpPr>
        <p:spPr>
          <a:xfrm>
            <a:off x="6980222" y="5619158"/>
            <a:ext cx="2344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Reply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61506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3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13E5-756F-6615-5AE8-2F4928BB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58BD6-5B54-D020-0167-26078EEF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 #4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0C4CF9-3616-0757-4855-0C7EE922F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Containerization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079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54D9-07D5-6BAB-2814-6B2FBF92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146DF-27D2-D59B-A63C-AECC691C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Take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aways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304D54-E8D7-5D1B-F662-8B42286B9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Die Anwendung kennt `das echte Host-System` nicht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Das Container-OS verhält sich auf verschiedener Hardware (nahezu) gleich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Von Verhalten im lokalen Container kann (</a:t>
            </a: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approx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.) auf Verhalten in Produktionsumgebung geschlossen werden.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Es ist möglich Anfragen lokal `gegen unsere Anwendung in live-artiger Umgebung` zu testen.</a:t>
            </a:r>
          </a:p>
        </p:txBody>
      </p:sp>
    </p:spTree>
    <p:extLst>
      <p:ext uri="{BB962C8B-B14F-4D97-AF65-F5344CB8AC3E}">
        <p14:creationId xmlns:p14="http://schemas.microsoft.com/office/powerpoint/2010/main" val="2212478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4554-F8DF-2E60-31C5-9C1F5AAC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2474754B-27DD-C770-12AD-1018E2E724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056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D6A337D1-B69D-8670-4C21-18F0C1E17CF6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34D5B09-66E3-E0F0-EDB5-36B6513C1E97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1474AEF7-F4E7-00AF-DE57-DB0C0D19B0A3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3BCE945C-A625-7CBF-3B34-0CFA80191893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D51EEF0-30C2-296E-4A68-82F60C39B9F1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FDA66DB6-BCDA-0D1F-FD95-150E76BFDE7E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A09327E-9DBB-0516-2633-07C22E56810F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C318E87-2A3F-9219-5504-D0800AC7E83A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C3052F77-79BC-DEDC-226C-1679AB6D3169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F148CE2-676F-1C91-C332-DEB7D1746A69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7864E20-451B-8391-2487-94B5D78649BB}"/>
              </a:ext>
            </a:extLst>
          </p:cNvPr>
          <p:cNvSpPr/>
          <p:nvPr/>
        </p:nvSpPr>
        <p:spPr>
          <a:xfrm>
            <a:off x="457200" y="457200"/>
            <a:ext cx="1170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OG</a:t>
            </a:r>
            <a:endParaRPr lang="en-US" sz="80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1B668F-DFBB-EFB4-198F-41BA83001058}"/>
              </a:ext>
            </a:extLst>
          </p:cNvPr>
          <p:cNvSpPr/>
          <p:nvPr/>
        </p:nvSpPr>
        <p:spPr>
          <a:xfrm>
            <a:off x="457199" y="1965960"/>
            <a:ext cx="57586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Integrationstest</a:t>
            </a:r>
            <a:endParaRPr lang="en-US" sz="3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53D25D-ADFA-E501-51EE-578098EDC034}"/>
              </a:ext>
            </a:extLst>
          </p:cNvPr>
          <p:cNvSpPr/>
          <p:nvPr/>
        </p:nvSpPr>
        <p:spPr>
          <a:xfrm>
            <a:off x="457200" y="2834640"/>
            <a:ext cx="382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Mit </a:t>
            </a:r>
            <a:r>
              <a:rPr lang="en-US" sz="160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Testcontainers</a:t>
            </a:r>
            <a:endParaRPr lang="en-US" sz="16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70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6189D-3068-0EB0-CA4E-FAFF3CF7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8745A-6FC1-E29E-03B2-97C82D72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Obergeschoss – </a:t>
            </a:r>
            <a:r>
              <a:rPr lang="en-US" b="1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Integrationstest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B5767F-B800-8F8E-C8A4-A3B30C68C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Ein </a:t>
            </a:r>
            <a:r>
              <a:rPr lang="de-DE" b="1" u="sng" dirty="0">
                <a:latin typeface="Consolas" panose="020B0609020204030204" pitchFamily="49" charset="0"/>
                <a:cs typeface="Consolas" panose="020B0609020204030204" pitchFamily="49" charset="0"/>
              </a:rPr>
              <a:t>Integrationstest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überprüft das Zusammenspiel mehrerer Komponenten oder Systeme, um sicherzustellen, dass sie gemeinsam korrekt funktionieren.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0AFF534-22D0-74DA-AD2E-A0E69FE7DB12}"/>
              </a:ext>
            </a:extLst>
          </p:cNvPr>
          <p:cNvGrpSpPr/>
          <p:nvPr/>
        </p:nvGrpSpPr>
        <p:grpSpPr>
          <a:xfrm>
            <a:off x="9459458" y="4687659"/>
            <a:ext cx="1592380" cy="1592380"/>
            <a:chOff x="1127616" y="2453093"/>
            <a:chExt cx="3617036" cy="36170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3A15781-5A14-84A4-4741-82EFA982A59B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4A46AAE-925D-3425-7297-D6E8F1A98752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DC47E8-EE73-9395-1095-03F308E42428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6FC8BC2-B4A1-B228-5201-C728A5D89BD2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14F874-0299-9CC2-4C5C-7BC44BF8E3CE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2086D788-441D-ADD5-D557-16E678D03EE0}"/>
              </a:ext>
            </a:extLst>
          </p:cNvPr>
          <p:cNvSpPr/>
          <p:nvPr/>
        </p:nvSpPr>
        <p:spPr>
          <a:xfrm>
            <a:off x="9157498" y="4296573"/>
            <a:ext cx="2196302" cy="2196302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OS-Container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88EB2AF-57EA-838E-8E2F-68019F6EE292}"/>
              </a:ext>
            </a:extLst>
          </p:cNvPr>
          <p:cNvSpPr/>
          <p:nvPr/>
        </p:nvSpPr>
        <p:spPr>
          <a:xfrm>
            <a:off x="8934010" y="3856776"/>
            <a:ext cx="2643276" cy="2787794"/>
          </a:xfrm>
          <a:prstGeom prst="rect">
            <a:avLst/>
          </a:prstGeom>
          <a:noFill/>
          <a:ln>
            <a:solidFill>
              <a:srgbClr val="A2A1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Container-Engine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CF751D4-7198-FFF7-E79D-54ED443C816F}"/>
              </a:ext>
            </a:extLst>
          </p:cNvPr>
          <p:cNvSpPr/>
          <p:nvPr/>
        </p:nvSpPr>
        <p:spPr>
          <a:xfrm>
            <a:off x="4581053" y="3358836"/>
            <a:ext cx="7125111" cy="3417192"/>
          </a:xfrm>
          <a:prstGeom prst="rect">
            <a:avLst/>
          </a:prstGeom>
          <a:noFill/>
          <a:ln>
            <a:solidFill>
              <a:srgbClr val="A2A1AA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Host-System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A75962B-99C1-7151-3A98-7E4A20A55B9D}"/>
              </a:ext>
            </a:extLst>
          </p:cNvPr>
          <p:cNvSpPr/>
          <p:nvPr/>
        </p:nvSpPr>
        <p:spPr>
          <a:xfrm>
            <a:off x="5182948" y="4294555"/>
            <a:ext cx="1688632" cy="2198319"/>
          </a:xfrm>
          <a:prstGeom prst="rect">
            <a:avLst/>
          </a:prstGeom>
          <a:noFill/>
          <a:ln>
            <a:solidFill>
              <a:srgbClr val="A2A1AA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.http-</a:t>
            </a:r>
            <a:br>
              <a:rPr lang="de-D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de-DE" dirty="0" err="1">
                <a:solidFill>
                  <a:schemeClr val="bg1">
                    <a:lumMod val="75000"/>
                  </a:schemeClr>
                </a:solidFill>
              </a:rPr>
              <a:t>file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543F39B-6FD7-FB41-66AF-133682E9753B}"/>
              </a:ext>
            </a:extLst>
          </p:cNvPr>
          <p:cNvCxnSpPr>
            <a:cxnSpLocks/>
          </p:cNvCxnSpPr>
          <p:nvPr/>
        </p:nvCxnSpPr>
        <p:spPr>
          <a:xfrm>
            <a:off x="6980222" y="5281133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1C918DB-DAFA-F8AA-F7B9-3CB3A534C28B}"/>
              </a:ext>
            </a:extLst>
          </p:cNvPr>
          <p:cNvCxnSpPr>
            <a:cxnSpLocks/>
          </p:cNvCxnSpPr>
          <p:nvPr/>
        </p:nvCxnSpPr>
        <p:spPr>
          <a:xfrm flipH="1">
            <a:off x="6980222" y="5585568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21C39E23-CB7D-C91C-F4BF-153A6CAE4411}"/>
              </a:ext>
            </a:extLst>
          </p:cNvPr>
          <p:cNvSpPr txBox="1"/>
          <p:nvPr/>
        </p:nvSpPr>
        <p:spPr>
          <a:xfrm>
            <a:off x="6980222" y="4942637"/>
            <a:ext cx="2317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Request</a:t>
            </a:r>
            <a:endParaRPr lang="de-DE" sz="14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D47DB64-05EC-20DE-1234-9259BBD015C3}"/>
              </a:ext>
            </a:extLst>
          </p:cNvPr>
          <p:cNvSpPr txBox="1"/>
          <p:nvPr/>
        </p:nvSpPr>
        <p:spPr>
          <a:xfrm>
            <a:off x="6980222" y="5619158"/>
            <a:ext cx="2344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Reply</a:t>
            </a:r>
            <a:endParaRPr lang="de-DE" sz="140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AA55BF1-F735-80C7-1146-E3842AF71E2E}"/>
              </a:ext>
            </a:extLst>
          </p:cNvPr>
          <p:cNvSpPr/>
          <p:nvPr/>
        </p:nvSpPr>
        <p:spPr>
          <a:xfrm>
            <a:off x="5224943" y="4613965"/>
            <a:ext cx="1593839" cy="1535760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Testcontainers</a:t>
            </a:r>
            <a:br>
              <a:rPr lang="de-DE" sz="1400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de-DE" sz="1400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de-DE" sz="1400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de-DE" sz="14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de-DE" sz="1400" dirty="0" err="1">
                <a:solidFill>
                  <a:schemeClr val="bg1">
                    <a:lumMod val="75000"/>
                  </a:schemeClr>
                </a:solidFill>
              </a:rPr>
              <a:t>Integrationtest</a:t>
            </a:r>
            <a:endParaRPr lang="de-DE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574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9F92-D18D-DBCD-6E24-4EBDA8B7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BD2EC4-F4C1-ADBC-2B71-0400CC92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Library -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Testcontainers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D28797-EDE6-536F-2905-1D1225F3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u="sng" dirty="0">
                <a:latin typeface="Consolas" panose="020B0609020204030204" pitchFamily="49" charset="0"/>
                <a:cs typeface="Consolas" panose="020B0609020204030204" pitchFamily="49" charset="0"/>
              </a:rPr>
              <a:t>Testcontainers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ist eine Bibliothek, die automatisiert kurzlebige Container für Integrationstests startet, um Tests mit realen Abhängigkeiten in einer isolierten und reproduzierbaren Umgebung auszuführen.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Sidenote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Kann mit verschiedenen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Sprachen genutzt werden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142F033-52CD-4DB6-D08E-06AF433DD46E}"/>
              </a:ext>
            </a:extLst>
          </p:cNvPr>
          <p:cNvGrpSpPr/>
          <p:nvPr/>
        </p:nvGrpSpPr>
        <p:grpSpPr>
          <a:xfrm>
            <a:off x="9459458" y="4687659"/>
            <a:ext cx="1592380" cy="1592380"/>
            <a:chOff x="1127616" y="2453093"/>
            <a:chExt cx="3617036" cy="36170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AE69B06-59F5-ED56-B99A-FE13C21C2940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68A00BF-5C0F-9B38-59C1-2AA1F18FB24B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B34BA91-4E8F-E855-08B2-767AB4F6506B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23E2AF-5144-875B-9812-4E5930F0FB70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4240178-E770-3DE2-DF35-E21567CB09F3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624EB7F6-AC79-97CB-3215-C7124AD91477}"/>
              </a:ext>
            </a:extLst>
          </p:cNvPr>
          <p:cNvSpPr/>
          <p:nvPr/>
        </p:nvSpPr>
        <p:spPr>
          <a:xfrm>
            <a:off x="9157498" y="4296573"/>
            <a:ext cx="2196302" cy="2196302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OS-Container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121F925-CEA4-F357-D5D1-5B80E3E94FBF}"/>
              </a:ext>
            </a:extLst>
          </p:cNvPr>
          <p:cNvCxnSpPr>
            <a:cxnSpLocks/>
          </p:cNvCxnSpPr>
          <p:nvPr/>
        </p:nvCxnSpPr>
        <p:spPr>
          <a:xfrm>
            <a:off x="6980222" y="5281133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E8F0463-73F8-FAB3-43BD-500F381447CC}"/>
              </a:ext>
            </a:extLst>
          </p:cNvPr>
          <p:cNvCxnSpPr>
            <a:cxnSpLocks/>
          </p:cNvCxnSpPr>
          <p:nvPr/>
        </p:nvCxnSpPr>
        <p:spPr>
          <a:xfrm flipH="1">
            <a:off x="6980222" y="5585568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49B273E9-F408-A8CB-F9FB-FAB0F862DA68}"/>
              </a:ext>
            </a:extLst>
          </p:cNvPr>
          <p:cNvSpPr txBox="1"/>
          <p:nvPr/>
        </p:nvSpPr>
        <p:spPr>
          <a:xfrm>
            <a:off x="6980222" y="4942637"/>
            <a:ext cx="2317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Request</a:t>
            </a:r>
            <a:endParaRPr lang="de-DE" sz="14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02EE213-3606-5912-90C7-4A47B7DD8444}"/>
              </a:ext>
            </a:extLst>
          </p:cNvPr>
          <p:cNvSpPr txBox="1"/>
          <p:nvPr/>
        </p:nvSpPr>
        <p:spPr>
          <a:xfrm>
            <a:off x="6980222" y="5619158"/>
            <a:ext cx="2344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Reply</a:t>
            </a:r>
            <a:endParaRPr lang="de-DE" sz="14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D302CCE-34CE-AE36-C538-31D3747C2C83}"/>
              </a:ext>
            </a:extLst>
          </p:cNvPr>
          <p:cNvSpPr/>
          <p:nvPr/>
        </p:nvSpPr>
        <p:spPr>
          <a:xfrm>
            <a:off x="8934010" y="3856776"/>
            <a:ext cx="2643276" cy="2787794"/>
          </a:xfrm>
          <a:prstGeom prst="rect">
            <a:avLst/>
          </a:prstGeom>
          <a:noFill/>
          <a:ln>
            <a:solidFill>
              <a:srgbClr val="A2A1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Container-Engine</a:t>
            </a:r>
          </a:p>
        </p:txBody>
      </p:sp>
    </p:spTree>
    <p:extLst>
      <p:ext uri="{BB962C8B-B14F-4D97-AF65-F5344CB8AC3E}">
        <p14:creationId xmlns:p14="http://schemas.microsoft.com/office/powerpoint/2010/main" val="133243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47EF-91E6-BD0B-E55A-20FC5A9AA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FA113-FDD8-139C-EC00-4CAA1135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Code #5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7052F1-ED28-802E-E932-0E8745B7B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Integrationtest</a:t>
            </a: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62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0B9E0-0024-8555-D459-DFA3A040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3937D7-F54D-838F-5A3B-FF1CAD1F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Take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aways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1B5D15-C6AE-9B47-68B2-07653F2FA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Das Gesamtsystem betrachten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Echte Anfragen simulieren</a:t>
            </a:r>
          </a:p>
          <a:p>
            <a:pPr lvl="1"/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Validierung über die Grenzen</a:t>
            </a:r>
            <a:b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der Anwendung hinaus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EA578AD-3C50-77F6-90AA-5E3050A421A8}"/>
              </a:ext>
            </a:extLst>
          </p:cNvPr>
          <p:cNvGrpSpPr/>
          <p:nvPr/>
        </p:nvGrpSpPr>
        <p:grpSpPr>
          <a:xfrm>
            <a:off x="9459458" y="4687659"/>
            <a:ext cx="1592380" cy="1592380"/>
            <a:chOff x="1127616" y="2453093"/>
            <a:chExt cx="3617036" cy="36170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054DFCE-9A15-F633-BCD9-7D338210EC5F}"/>
                </a:ext>
              </a:extLst>
            </p:cNvPr>
            <p:cNvSpPr/>
            <p:nvPr/>
          </p:nvSpPr>
          <p:spPr>
            <a:xfrm>
              <a:off x="1127616" y="2453093"/>
              <a:ext cx="3617036" cy="3617036"/>
            </a:xfrm>
            <a:prstGeom prst="ellipse">
              <a:avLst/>
            </a:prstGeom>
            <a:solidFill>
              <a:srgbClr val="EF4444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33FEE6-D8DB-F838-E324-2987C66A5AB3}"/>
                </a:ext>
              </a:extLst>
            </p:cNvPr>
            <p:cNvSpPr/>
            <p:nvPr/>
          </p:nvSpPr>
          <p:spPr>
            <a:xfrm>
              <a:off x="1494322" y="2819799"/>
              <a:ext cx="2883625" cy="2883625"/>
            </a:xfrm>
            <a:prstGeom prst="ellipse">
              <a:avLst/>
            </a:prstGeom>
            <a:solidFill>
              <a:srgbClr val="9056DC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BC97FE-BA3B-BB0C-D281-C4E17F1EA078}"/>
                </a:ext>
              </a:extLst>
            </p:cNvPr>
            <p:cNvSpPr/>
            <p:nvPr/>
          </p:nvSpPr>
          <p:spPr>
            <a:xfrm>
              <a:off x="2011938" y="3337415"/>
              <a:ext cx="1848395" cy="1848395"/>
            </a:xfrm>
            <a:prstGeom prst="ellipse">
              <a:avLst/>
            </a:prstGeom>
            <a:solidFill>
              <a:srgbClr val="3A82F7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2B8BA42-55E5-EEEB-64D2-05D62C1BA076}"/>
                </a:ext>
              </a:extLst>
            </p:cNvPr>
            <p:cNvSpPr/>
            <p:nvPr/>
          </p:nvSpPr>
          <p:spPr>
            <a:xfrm>
              <a:off x="2477304" y="3801149"/>
              <a:ext cx="920932" cy="920932"/>
            </a:xfrm>
            <a:prstGeom prst="ellipse">
              <a:avLst/>
            </a:prstGeom>
            <a:solidFill>
              <a:srgbClr val="22C55E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819F7E4-A56D-3029-5359-E3F551A4A781}"/>
                </a:ext>
              </a:extLst>
            </p:cNvPr>
            <p:cNvSpPr/>
            <p:nvPr/>
          </p:nvSpPr>
          <p:spPr>
            <a:xfrm>
              <a:off x="2705086" y="4030563"/>
              <a:ext cx="462100" cy="462100"/>
            </a:xfrm>
            <a:prstGeom prst="ellipse">
              <a:avLst/>
            </a:prstGeom>
            <a:solidFill>
              <a:srgbClr val="A2A1AA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Rechteck 9">
            <a:extLst>
              <a:ext uri="{FF2B5EF4-FFF2-40B4-BE49-F238E27FC236}">
                <a16:creationId xmlns:a16="http://schemas.microsoft.com/office/drawing/2014/main" id="{46F54FFC-DBBD-C7E1-AC86-F4EF5E77AF66}"/>
              </a:ext>
            </a:extLst>
          </p:cNvPr>
          <p:cNvSpPr/>
          <p:nvPr/>
        </p:nvSpPr>
        <p:spPr>
          <a:xfrm>
            <a:off x="9157498" y="4296573"/>
            <a:ext cx="2196302" cy="2196302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OS-Container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32EBAE5-CFE3-8AB0-157A-0E9495E556CD}"/>
              </a:ext>
            </a:extLst>
          </p:cNvPr>
          <p:cNvCxnSpPr>
            <a:cxnSpLocks/>
          </p:cNvCxnSpPr>
          <p:nvPr/>
        </p:nvCxnSpPr>
        <p:spPr>
          <a:xfrm>
            <a:off x="6980222" y="5281133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1F29CFA-9A85-7F9D-01A6-96D7678C41E6}"/>
              </a:ext>
            </a:extLst>
          </p:cNvPr>
          <p:cNvCxnSpPr>
            <a:cxnSpLocks/>
          </p:cNvCxnSpPr>
          <p:nvPr/>
        </p:nvCxnSpPr>
        <p:spPr>
          <a:xfrm flipH="1">
            <a:off x="6980222" y="5585568"/>
            <a:ext cx="2344847" cy="0"/>
          </a:xfrm>
          <a:prstGeom prst="straightConnector1">
            <a:avLst/>
          </a:prstGeom>
          <a:ln w="28575">
            <a:solidFill>
              <a:srgbClr val="A2A1A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D3B42E4C-F5EC-2422-4BCA-707932958C24}"/>
              </a:ext>
            </a:extLst>
          </p:cNvPr>
          <p:cNvSpPr txBox="1"/>
          <p:nvPr/>
        </p:nvSpPr>
        <p:spPr>
          <a:xfrm>
            <a:off x="6980222" y="4942637"/>
            <a:ext cx="23177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Request</a:t>
            </a:r>
            <a:endParaRPr lang="de-DE" sz="14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0569C01-A99F-0395-042A-AB3ED7724559}"/>
              </a:ext>
            </a:extLst>
          </p:cNvPr>
          <p:cNvSpPr txBox="1"/>
          <p:nvPr/>
        </p:nvSpPr>
        <p:spPr>
          <a:xfrm>
            <a:off x="6980222" y="5619158"/>
            <a:ext cx="2344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Reply</a:t>
            </a:r>
            <a:endParaRPr lang="de-DE" sz="14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3D0C167-0580-A4F0-151D-C374700A1241}"/>
              </a:ext>
            </a:extLst>
          </p:cNvPr>
          <p:cNvSpPr/>
          <p:nvPr/>
        </p:nvSpPr>
        <p:spPr>
          <a:xfrm>
            <a:off x="8934010" y="3856776"/>
            <a:ext cx="2643276" cy="2787794"/>
          </a:xfrm>
          <a:prstGeom prst="rect">
            <a:avLst/>
          </a:prstGeom>
          <a:noFill/>
          <a:ln>
            <a:solidFill>
              <a:srgbClr val="A2A1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Container-Engine</a:t>
            </a:r>
          </a:p>
        </p:txBody>
      </p:sp>
    </p:spTree>
    <p:extLst>
      <p:ext uri="{BB962C8B-B14F-4D97-AF65-F5344CB8AC3E}">
        <p14:creationId xmlns:p14="http://schemas.microsoft.com/office/powerpoint/2010/main" val="445993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91DF1-A7DC-33D6-E45F-5D5B6F93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7D97FF06-AD34-4E24-96BA-1FFD9D2E87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0955748-D8B4-6CAE-6C48-DDDAEB9D66AC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DAAE13A-5F1D-6D08-D49E-8AA87C47D099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51C1227-A661-EDC7-8E36-EEAE584F81C7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354F3FBA-3332-AD81-82E2-B5D3BEBE9D7B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9D13D88-8291-599D-16F4-232265E70807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4F3DC379-94E9-2F1F-3E82-BA0AEBFE926B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740BF3E-E914-905B-3DCB-3C22712C7DD8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BF31E85-90E6-14D3-3817-A8EBA9D57711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4520B7A0-55D7-9624-67E6-0B4018637626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4386D25-FF5C-17DA-25A0-037425ADC022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7107584C-357E-7AB0-3DBB-EE4D2D16DFC3}"/>
              </a:ext>
            </a:extLst>
          </p:cNvPr>
          <p:cNvSpPr/>
          <p:nvPr/>
        </p:nvSpPr>
        <p:spPr>
          <a:xfrm>
            <a:off x="457199" y="457200"/>
            <a:ext cx="50986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RT</a:t>
            </a:r>
            <a:endParaRPr lang="en-US" sz="80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454D429E-53E8-6384-BD68-33CA538A83BF}"/>
              </a:ext>
            </a:extLst>
          </p:cNvPr>
          <p:cNvSpPr/>
          <p:nvPr/>
        </p:nvSpPr>
        <p:spPr>
          <a:xfrm>
            <a:off x="457199" y="1965960"/>
            <a:ext cx="57586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Lasttest</a:t>
            </a:r>
            <a:endParaRPr lang="en-US" sz="34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64DF149B-7413-F51E-C2DD-7A2379D6B63D}"/>
              </a:ext>
            </a:extLst>
          </p:cNvPr>
          <p:cNvSpPr/>
          <p:nvPr/>
        </p:nvSpPr>
        <p:spPr>
          <a:xfrm>
            <a:off x="457200" y="2834640"/>
            <a:ext cx="382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Mit k6, Prometheus &amp; Grafana</a:t>
            </a:r>
            <a:endParaRPr lang="en-US" sz="16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570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5932-C96A-8296-7642-2A2AF133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5E9EC-0A23-93E2-03F4-C58E2C6E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Rooftop</a:t>
            </a:r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 –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Lasttest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DC68F-FAC0-D399-D8B2-91654E4A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Warum -&gt;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skippen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Pattern – das „Wie“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Prämisse/Setup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Assertion-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Comparison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878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D50F-92CB-5175-1E4D-CDDAB4B05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CB4BB-C715-BEA7-67BE-DDAB3A1EA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Exkurs - Threads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0E982D-7A54-EACB-E241-BD29D6EBB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Ist meine präferierte Programmiersprache</a:t>
            </a:r>
            <a:br>
              <a:rPr lang="de-DE" dirty="0"/>
            </a:br>
            <a:r>
              <a:rPr lang="de-DE" dirty="0"/>
              <a:t>Multi-thread-fähig?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Zuordnungsspiel: Top 7, TIOBE Index März 2026 (+GO)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dirty="0"/>
              <a:t>Python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dirty="0"/>
              <a:t>C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dirty="0"/>
              <a:t>C++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u="sng" dirty="0"/>
              <a:t>Java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dirty="0"/>
              <a:t>C#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u="sng" dirty="0"/>
              <a:t>JavaScript</a:t>
            </a:r>
          </a:p>
          <a:p>
            <a:pPr marL="1371600" lvl="2" indent="-457200">
              <a:buFont typeface="+mj-lt"/>
              <a:buAutoNum type="arabicPeriod"/>
            </a:pPr>
            <a:r>
              <a:rPr lang="de-DE" dirty="0"/>
              <a:t>Visual Basic</a:t>
            </a:r>
          </a:p>
          <a:p>
            <a:pPr lvl="2"/>
            <a:r>
              <a:rPr lang="de-DE" u="sng" dirty="0" err="1"/>
              <a:t>GoLang</a:t>
            </a:r>
            <a:endParaRPr lang="de-DE" u="sng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EA22296-09CC-226B-AB8E-3D1743EB035D}"/>
              </a:ext>
            </a:extLst>
          </p:cNvPr>
          <p:cNvGrpSpPr/>
          <p:nvPr/>
        </p:nvGrpSpPr>
        <p:grpSpPr>
          <a:xfrm>
            <a:off x="6095999" y="3883231"/>
            <a:ext cx="3659579" cy="1852551"/>
            <a:chOff x="6095999" y="3883231"/>
            <a:chExt cx="3659579" cy="1852551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5635B17-606B-2E66-379A-509ED6D02683}"/>
                </a:ext>
              </a:extLst>
            </p:cNvPr>
            <p:cNvSpPr/>
            <p:nvPr/>
          </p:nvSpPr>
          <p:spPr>
            <a:xfrm>
              <a:off x="6095999" y="3883231"/>
              <a:ext cx="3659579" cy="61751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⚡: Native Unterstützung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856891D9-A19C-EF59-A5BD-BD3BF56898B1}"/>
                </a:ext>
              </a:extLst>
            </p:cNvPr>
            <p:cNvSpPr/>
            <p:nvPr/>
          </p:nvSpPr>
          <p:spPr>
            <a:xfrm>
              <a:off x="6095999" y="4500748"/>
              <a:ext cx="3659579" cy="61751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⚙️: Via Library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8EAA932-0D2D-A604-868C-F7584AC9B1F9}"/>
                </a:ext>
              </a:extLst>
            </p:cNvPr>
            <p:cNvSpPr/>
            <p:nvPr/>
          </p:nvSpPr>
          <p:spPr>
            <a:xfrm>
              <a:off x="6095999" y="5118265"/>
              <a:ext cx="3659579" cy="617517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dirty="0"/>
                <a:t>🚫: Kein echtes Multithreading</a:t>
              </a:r>
            </a:p>
          </p:txBody>
        </p:sp>
      </p:grpSp>
      <p:sp>
        <p:nvSpPr>
          <p:cNvPr id="56" name="Rechteck 55">
            <a:extLst>
              <a:ext uri="{FF2B5EF4-FFF2-40B4-BE49-F238E27FC236}">
                <a16:creationId xmlns:a16="http://schemas.microsoft.com/office/drawing/2014/main" id="{983B60D3-100F-EE23-B25F-34F864C8C80E}"/>
              </a:ext>
            </a:extLst>
          </p:cNvPr>
          <p:cNvSpPr/>
          <p:nvPr/>
        </p:nvSpPr>
        <p:spPr>
          <a:xfrm>
            <a:off x="1382645" y="3483133"/>
            <a:ext cx="314269" cy="26938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F660B7B2-B1EA-A70D-D1DB-371DB2A250F7}"/>
              </a:ext>
            </a:extLst>
          </p:cNvPr>
          <p:cNvSpPr txBox="1"/>
          <p:nvPr/>
        </p:nvSpPr>
        <p:spPr>
          <a:xfrm>
            <a:off x="1372755" y="4160241"/>
            <a:ext cx="485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⚡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A26DC98D-409F-B564-500C-86573B1787B5}"/>
              </a:ext>
            </a:extLst>
          </p:cNvPr>
          <p:cNvSpPr txBox="1"/>
          <p:nvPr/>
        </p:nvSpPr>
        <p:spPr>
          <a:xfrm>
            <a:off x="1374733" y="4498795"/>
            <a:ext cx="485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⚡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FF2C1836-D47F-B0B8-861B-4A00923ED25D}"/>
              </a:ext>
            </a:extLst>
          </p:cNvPr>
          <p:cNvSpPr txBox="1"/>
          <p:nvPr/>
        </p:nvSpPr>
        <p:spPr>
          <a:xfrm>
            <a:off x="1376711" y="4837349"/>
            <a:ext cx="485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⚡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21A04DFE-741B-4472-F9D6-6CF40D5E48F6}"/>
              </a:ext>
            </a:extLst>
          </p:cNvPr>
          <p:cNvSpPr txBox="1"/>
          <p:nvPr/>
        </p:nvSpPr>
        <p:spPr>
          <a:xfrm>
            <a:off x="1382645" y="5853011"/>
            <a:ext cx="485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⚡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C916576E-BE81-7858-26E6-9C38D4F39D61}"/>
              </a:ext>
            </a:extLst>
          </p:cNvPr>
          <p:cNvSpPr txBox="1"/>
          <p:nvPr/>
        </p:nvSpPr>
        <p:spPr>
          <a:xfrm>
            <a:off x="1376711" y="3821687"/>
            <a:ext cx="485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⚙️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3797EB3D-86BC-AD13-6D37-52F48AF7DBB1}"/>
              </a:ext>
            </a:extLst>
          </p:cNvPr>
          <p:cNvSpPr txBox="1"/>
          <p:nvPr/>
        </p:nvSpPr>
        <p:spPr>
          <a:xfrm>
            <a:off x="1380667" y="3483133"/>
            <a:ext cx="485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⚙️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37E2518-168A-F534-D476-108F95269FCC}"/>
              </a:ext>
            </a:extLst>
          </p:cNvPr>
          <p:cNvSpPr txBox="1"/>
          <p:nvPr/>
        </p:nvSpPr>
        <p:spPr>
          <a:xfrm>
            <a:off x="1372755" y="5518333"/>
            <a:ext cx="485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🚫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9FFEB2DA-F8AB-38B4-FABC-3D70F6295D15}"/>
              </a:ext>
            </a:extLst>
          </p:cNvPr>
          <p:cNvSpPr txBox="1"/>
          <p:nvPr/>
        </p:nvSpPr>
        <p:spPr>
          <a:xfrm>
            <a:off x="1372755" y="5179779"/>
            <a:ext cx="485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🚫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B2EC831-637A-98DC-3881-F898FEBFD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5619" y="5224766"/>
            <a:ext cx="797522" cy="79752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CBEBB57-A83C-C9DE-EC20-ADED90EE4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619" y="4210583"/>
            <a:ext cx="797522" cy="79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624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2E74-01AB-B8A4-0AF9-0DBDA7B4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64A32-E4C0-2E7E-89B6-90D13E13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Take 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aways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8D87D2-F4D6-5983-F4BA-B7D1A52D1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`Warum`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Viele Gründe ???</a:t>
            </a:r>
          </a:p>
          <a:p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`Wie`-Pattern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Prämisse/Setup ???</a:t>
            </a:r>
          </a:p>
          <a:p>
            <a:pPr lvl="1"/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507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15E3-E8FF-65DA-6609-B072276B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C5D1BB7B-5AEE-257C-E33F-97B18B1B84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D6A34C7-6F32-CADF-D334-D92CFC3E01B0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98F001B-1B54-DA09-951C-D207B02B86CB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B81D2F5-1E49-FEF5-1BC5-12C130138357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C28BCB3-BD98-E6DE-6F90-BD54534DB41E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9DC8A03-0DC7-0EAB-338E-A424A0EF15E2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C522224-A820-48A6-D17F-6C4FB66228A0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38FD90A6-33EA-7FAB-6E1E-499E0A348793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B6A054F-8054-361C-14FE-D3E4B258DFA5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C1A62401-DFC1-6084-726A-F1684F3229BF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434A1B6-991E-60BA-137A-22B564AB5D99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169996C9-98D8-8F0F-088C-1F39146CDE40}"/>
              </a:ext>
            </a:extLst>
          </p:cNvPr>
          <p:cNvSpPr/>
          <p:nvPr/>
        </p:nvSpPr>
        <p:spPr>
          <a:xfrm>
            <a:off x="457199" y="457200"/>
            <a:ext cx="50986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Fazit</a:t>
            </a:r>
            <a:endParaRPr lang="en-US" sz="80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682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2ACE-9247-1B07-75DB-23B165C2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101D7-DD62-69AC-45C3-E09B2679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Käsescheiben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1D5A52-0E0E-1B21-1FEC-3632FF6E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34353"/>
            <a:ext cx="10515600" cy="25426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Manchmal nur 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Verbesserungen ..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.. die allein mit Unittest abgedeckt werden können</a:t>
            </a:r>
          </a:p>
          <a:p>
            <a:pPr lvl="1"/>
            <a:r>
              <a:rPr lang="de-DE" dirty="0" err="1">
                <a:latin typeface="Consolas" panose="020B0609020204030204" pitchFamily="49" charset="0"/>
                <a:cs typeface="Consolas" panose="020B0609020204030204" pitchFamily="49" charset="0"/>
              </a:rPr>
              <a:t>Interaktionesänderungen</a:t>
            </a: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 ..</a:t>
            </a:r>
          </a:p>
          <a:p>
            <a:pPr lvl="2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.. Welcher nur den Integrationstest betreffen</a:t>
            </a:r>
          </a:p>
          <a:p>
            <a:pPr marL="0" indent="0">
              <a:buNone/>
            </a:pPr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89BFA22-F52F-F7D2-9C68-447595D4893F}"/>
              </a:ext>
            </a:extLst>
          </p:cNvPr>
          <p:cNvSpPr/>
          <p:nvPr/>
        </p:nvSpPr>
        <p:spPr>
          <a:xfrm>
            <a:off x="7067226" y="1952787"/>
            <a:ext cx="1914041" cy="106163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Brotscheibe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4446EE9-DDFC-50CE-B5D8-78E631A64044}"/>
              </a:ext>
            </a:extLst>
          </p:cNvPr>
          <p:cNvGrpSpPr/>
          <p:nvPr/>
        </p:nvGrpSpPr>
        <p:grpSpPr>
          <a:xfrm>
            <a:off x="11260810" y="309717"/>
            <a:ext cx="681985" cy="3545916"/>
            <a:chOff x="791705" y="2516691"/>
            <a:chExt cx="681985" cy="3432105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B4CFA94F-9507-B122-A8B1-0E42336C7EED}"/>
                </a:ext>
              </a:extLst>
            </p:cNvPr>
            <p:cNvSpPr/>
            <p:nvPr/>
          </p:nvSpPr>
          <p:spPr>
            <a:xfrm>
              <a:off x="791705" y="5517163"/>
              <a:ext cx="681526" cy="431633"/>
            </a:xfrm>
            <a:prstGeom prst="rect">
              <a:avLst/>
            </a:prstGeom>
            <a:solidFill>
              <a:srgbClr val="A1A1AA"/>
            </a:solidFill>
            <a:ln w="12700">
              <a:solidFill>
                <a:srgbClr val="A1A1A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Unit</a:t>
              </a: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8FA15992-FFA5-4D39-C7F5-7296333F6AB1}"/>
                </a:ext>
              </a:extLst>
            </p:cNvPr>
            <p:cNvSpPr/>
            <p:nvPr/>
          </p:nvSpPr>
          <p:spPr>
            <a:xfrm>
              <a:off x="792164" y="2516691"/>
              <a:ext cx="681526" cy="431633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Last</a:t>
              </a:r>
            </a:p>
          </p:txBody>
        </p:sp>
        <p:sp>
          <p:nvSpPr>
            <p:cNvPr id="10" name="Shape 15">
              <a:extLst>
                <a:ext uri="{FF2B5EF4-FFF2-40B4-BE49-F238E27FC236}">
                  <a16:creationId xmlns:a16="http://schemas.microsoft.com/office/drawing/2014/main" id="{A86A84DD-8047-9A26-15C8-D3151D957BB4}"/>
                </a:ext>
              </a:extLst>
            </p:cNvPr>
            <p:cNvSpPr/>
            <p:nvPr/>
          </p:nvSpPr>
          <p:spPr>
            <a:xfrm>
              <a:off x="792164" y="4000519"/>
              <a:ext cx="681526" cy="431633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Cont</a:t>
              </a:r>
              <a:endParaRPr lang="de-DE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Shape 21">
              <a:extLst>
                <a:ext uri="{FF2B5EF4-FFF2-40B4-BE49-F238E27FC236}">
                  <a16:creationId xmlns:a16="http://schemas.microsoft.com/office/drawing/2014/main" id="{D8859762-9B4C-9B8D-C40B-5349DCEB5DFA}"/>
                </a:ext>
              </a:extLst>
            </p:cNvPr>
            <p:cNvSpPr/>
            <p:nvPr/>
          </p:nvSpPr>
          <p:spPr>
            <a:xfrm>
              <a:off x="792164" y="4735679"/>
              <a:ext cx="681526" cy="431633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Mut</a:t>
              </a:r>
            </a:p>
          </p:txBody>
        </p:sp>
        <p:sp>
          <p:nvSpPr>
            <p:cNvPr id="12" name="Shape 15">
              <a:extLst>
                <a:ext uri="{FF2B5EF4-FFF2-40B4-BE49-F238E27FC236}">
                  <a16:creationId xmlns:a16="http://schemas.microsoft.com/office/drawing/2014/main" id="{308F2D10-4322-FD2D-827F-29C6B4B3953D}"/>
                </a:ext>
              </a:extLst>
            </p:cNvPr>
            <p:cNvSpPr/>
            <p:nvPr/>
          </p:nvSpPr>
          <p:spPr>
            <a:xfrm>
              <a:off x="792164" y="3256714"/>
              <a:ext cx="681526" cy="431633"/>
            </a:xfrm>
            <a:prstGeom prst="rect">
              <a:avLst/>
            </a:prstGeom>
            <a:solidFill>
              <a:srgbClr val="9056DC"/>
            </a:solidFill>
            <a:ln w="12700">
              <a:noFill/>
              <a:prstDash val="solid"/>
            </a:ln>
          </p:spPr>
          <p:txBody>
            <a:bodyPr anchor="ctr"/>
            <a:lstStyle/>
            <a:p>
              <a:pPr algn="ctr"/>
              <a:r>
                <a:rPr lang="de-DE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Integ</a:t>
              </a:r>
              <a:endParaRPr lang="de-DE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232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7BEC-659B-E523-C5A4-F84D4E40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F485D-E271-D6A5-94E4-8985333B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Jeder Test bleibt erstmal ..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0D2281-368D-B559-C0FE-2E1A5DF52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.. ein Präventionsparadoxon.</a:t>
            </a:r>
          </a:p>
          <a:p>
            <a:endParaRPr lang="de-DE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Für jeden Test einzeln ..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Erstellen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Auf Durchlauf warten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Anpassen &amp; Pflegen</a:t>
            </a:r>
          </a:p>
          <a:p>
            <a:pPr lvl="1"/>
            <a:r>
              <a:rPr lang="de-DE" dirty="0">
                <a:latin typeface="Consolas" panose="020B0609020204030204" pitchFamily="49" charset="0"/>
                <a:cs typeface="Consolas" panose="020B0609020204030204" pitchFamily="49" charset="0"/>
              </a:rPr>
              <a:t>Hoffen, dass er schlimmeres verhindert</a:t>
            </a:r>
          </a:p>
        </p:txBody>
      </p:sp>
    </p:spTree>
    <p:extLst>
      <p:ext uri="{BB962C8B-B14F-4D97-AF65-F5344CB8AC3E}">
        <p14:creationId xmlns:p14="http://schemas.microsoft.com/office/powerpoint/2010/main" val="15521137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A8FD-7797-7405-08A9-EC2FFDE7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801A5788-06A1-CE4D-D5AC-2605434B2C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D8887CE-B3A4-DC2A-1881-4EA8CCB8A545}"/>
              </a:ext>
            </a:extLst>
          </p:cNvPr>
          <p:cNvGrpSpPr/>
          <p:nvPr/>
        </p:nvGrpSpPr>
        <p:grpSpPr>
          <a:xfrm>
            <a:off x="3826981" y="-1861535"/>
            <a:ext cx="10093846" cy="10581072"/>
            <a:chOff x="2892753" y="-1949002"/>
            <a:chExt cx="10093846" cy="10581072"/>
          </a:xfrm>
          <a:solidFill>
            <a:schemeClr val="tx1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70BDF7A-255C-B7C7-58C3-61D894F0D1DF}"/>
                </a:ext>
              </a:extLst>
            </p:cNvPr>
            <p:cNvSpPr/>
            <p:nvPr/>
          </p:nvSpPr>
          <p:spPr>
            <a:xfrm rot="1954603">
              <a:off x="2892753" y="-1949002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20B0812-D7F4-3D78-AF9B-DE0B330E8006}"/>
                </a:ext>
              </a:extLst>
            </p:cNvPr>
            <p:cNvSpPr/>
            <p:nvPr/>
          </p:nvSpPr>
          <p:spPr>
            <a:xfrm rot="1954603">
              <a:off x="4444185" y="-1949001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EFB94B33-7D32-AEE4-5B3F-8B9428150C1A}"/>
                </a:ext>
              </a:extLst>
            </p:cNvPr>
            <p:cNvSpPr/>
            <p:nvPr/>
          </p:nvSpPr>
          <p:spPr>
            <a:xfrm rot="1954603">
              <a:off x="5995617" y="-1949000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DE3B1CD6-1F1A-1104-CE03-209844883444}"/>
                </a:ext>
              </a:extLst>
            </p:cNvPr>
            <p:cNvSpPr/>
            <p:nvPr/>
          </p:nvSpPr>
          <p:spPr>
            <a:xfrm rot="1954603">
              <a:off x="7547049" y="-1948999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38953E0D-9C98-E3FA-283E-1A0994200DF6}"/>
                </a:ext>
              </a:extLst>
            </p:cNvPr>
            <p:cNvSpPr/>
            <p:nvPr/>
          </p:nvSpPr>
          <p:spPr>
            <a:xfrm rot="1954603">
              <a:off x="9098481" y="-1948998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C57F783-CE2D-7E14-5B54-C638870B8662}"/>
                </a:ext>
              </a:extLst>
            </p:cNvPr>
            <p:cNvSpPr/>
            <p:nvPr/>
          </p:nvSpPr>
          <p:spPr>
            <a:xfrm rot="1954603">
              <a:off x="10649913" y="-1948997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B9D5113E-F5A2-9F13-92E2-9B1A9C18DBFF}"/>
                </a:ext>
              </a:extLst>
            </p:cNvPr>
            <p:cNvSpPr/>
            <p:nvPr/>
          </p:nvSpPr>
          <p:spPr>
            <a:xfrm rot="1954603">
              <a:off x="12201345" y="-1948996"/>
              <a:ext cx="785254" cy="105810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5" name="Rechtwinkliges Dreieck 24">
            <a:extLst>
              <a:ext uri="{FF2B5EF4-FFF2-40B4-BE49-F238E27FC236}">
                <a16:creationId xmlns:a16="http://schemas.microsoft.com/office/drawing/2014/main" id="{F93A89B8-3175-62A6-C042-CB1E5D4567EB}"/>
              </a:ext>
            </a:extLst>
          </p:cNvPr>
          <p:cNvSpPr/>
          <p:nvPr/>
        </p:nvSpPr>
        <p:spPr>
          <a:xfrm rot="5400000">
            <a:off x="817686" y="966663"/>
            <a:ext cx="6929350" cy="489442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311B4F9-A3EE-076F-5D4B-127707A0A3F6}"/>
              </a:ext>
            </a:extLst>
          </p:cNvPr>
          <p:cNvSpPr/>
          <p:nvPr/>
        </p:nvSpPr>
        <p:spPr>
          <a:xfrm>
            <a:off x="-44450" y="-50803"/>
            <a:ext cx="1945674" cy="69293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23B71396-17EE-CF14-9AC4-34B3820DE78F}"/>
              </a:ext>
            </a:extLst>
          </p:cNvPr>
          <p:cNvSpPr/>
          <p:nvPr/>
        </p:nvSpPr>
        <p:spPr>
          <a:xfrm>
            <a:off x="457199" y="457200"/>
            <a:ext cx="50986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20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Q&amp;A</a:t>
            </a:r>
            <a:endParaRPr lang="en-US" sz="800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4731931-0FBD-94DA-AEC6-2E24D24D41BB}"/>
              </a:ext>
            </a:extLst>
          </p:cNvPr>
          <p:cNvGrpSpPr/>
          <p:nvPr/>
        </p:nvGrpSpPr>
        <p:grpSpPr>
          <a:xfrm>
            <a:off x="9790471" y="2724062"/>
            <a:ext cx="1539882" cy="4272826"/>
            <a:chOff x="9774973" y="2755058"/>
            <a:chExt cx="1539882" cy="427282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EFA88AB-C0E2-2042-0282-53C58A4F53CE}"/>
                </a:ext>
              </a:extLst>
            </p:cNvPr>
            <p:cNvGrpSpPr/>
            <p:nvPr/>
          </p:nvGrpSpPr>
          <p:grpSpPr>
            <a:xfrm rot="18180000">
              <a:off x="9779272" y="6300223"/>
              <a:ext cx="444871" cy="453470"/>
              <a:chOff x="436847" y="2880360"/>
              <a:chExt cx="444871" cy="453470"/>
            </a:xfrm>
          </p:grpSpPr>
          <p:pic>
            <p:nvPicPr>
              <p:cNvPr id="4" name="Picture 2" descr="Mastodon Icons - Free Download in SVG, PNG">
                <a:extLst>
                  <a:ext uri="{FF2B5EF4-FFF2-40B4-BE49-F238E27FC236}">
                    <a16:creationId xmlns:a16="http://schemas.microsoft.com/office/drawing/2014/main" id="{78051035-F50F-3607-1F0C-3E63D96C3E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6847" y="2888959"/>
                <a:ext cx="444871" cy="4448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CEC471F5-AFE6-44A6-EB6B-EACC9A495ACD}"/>
                  </a:ext>
                </a:extLst>
              </p:cNvPr>
              <p:cNvSpPr/>
              <p:nvPr/>
            </p:nvSpPr>
            <p:spPr>
              <a:xfrm>
                <a:off x="436847" y="2880360"/>
                <a:ext cx="444871" cy="453470"/>
              </a:xfrm>
              <a:prstGeom prst="rect">
                <a:avLst/>
              </a:prstGeom>
              <a:solidFill>
                <a:schemeClr val="tx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5D969323-BF9A-D626-218A-537F27583EB8}"/>
                </a:ext>
              </a:extLst>
            </p:cNvPr>
            <p:cNvSpPr/>
            <p:nvPr/>
          </p:nvSpPr>
          <p:spPr>
            <a:xfrm rot="18163815">
              <a:off x="8904122" y="4617151"/>
              <a:ext cx="427282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de-DE" sz="1600" dirty="0">
                  <a:solidFill>
                    <a:schemeClr val="bg1">
                      <a:lumMod val="75000"/>
                    </a:schemeClr>
                  </a:solidFill>
                </a:rPr>
                <a:t>@</a:t>
              </a:r>
              <a:r>
                <a:rPr lang="de-DE" sz="1600" dirty="0" err="1">
                  <a:solidFill>
                    <a:schemeClr val="bg1">
                      <a:lumMod val="75000"/>
                    </a:schemeClr>
                  </a:solidFill>
                </a:rPr>
                <a:t>PatientParrot@social.tchncs.de</a:t>
              </a:r>
              <a:endParaRPr lang="en-US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0830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FC1D0-7E56-7A59-2E55-7C7142B1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1128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6CA7-1D7A-9470-3062-9FFCEFBB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7145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05BB-2F7C-A5FD-433C-EAE58392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4176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8FDD-7791-0F13-5A8B-E1D3AF4C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Unittest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0FB360-2FEE-EF19-3AB6-2770363AD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Pattern – das „Wie“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Prämisse/Setup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</a:p>
          <a:p>
            <a:pPr lvl="1"/>
            <a:r>
              <a:rPr lang="de-DE">
                <a:latin typeface="Consolas" panose="020B0609020204030204" pitchFamily="49" charset="0"/>
                <a:cs typeface="Consolas" panose="020B0609020204030204" pitchFamily="49" charset="0"/>
              </a:rPr>
              <a:t>Assertion-</a:t>
            </a:r>
            <a:r>
              <a:rPr lang="de-DE" err="1">
                <a:latin typeface="Consolas" panose="020B0609020204030204" pitchFamily="49" charset="0"/>
                <a:cs typeface="Consolas" panose="020B0609020204030204" pitchFamily="49" charset="0"/>
              </a:rPr>
              <a:t>Comparison</a:t>
            </a:r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425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06DEF-76CD-7FC8-5632-7A4366E8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Voraussetzungen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069A69-DD04-E9DB-F64F-1DC7DB10C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err="1"/>
              <a:t>Testing</a:t>
            </a:r>
            <a:endParaRPr lang="de-DE"/>
          </a:p>
          <a:p>
            <a:r>
              <a:rPr lang="de-DE"/>
              <a:t>Containerisierung</a:t>
            </a:r>
          </a:p>
          <a:p>
            <a:r>
              <a:rPr lang="de-DE"/>
              <a:t>Lastszenario</a:t>
            </a:r>
          </a:p>
          <a:p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118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F940F-027D-3C75-6A5A-5D98546D7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697BCE-7130-F0D9-1C54-4FCBE478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Warum testen wir?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9203A0-57C3-4181-3EDB-F04BF7853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483353" cy="45938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/>
              <a:t>Kritische Situationen, unerwünschte Zustände</a:t>
            </a:r>
            <a:br>
              <a:rPr lang="de-DE"/>
            </a:br>
            <a:r>
              <a:rPr lang="de-DE"/>
              <a:t>und Fehler im Zielsystem verhindern.</a:t>
            </a:r>
          </a:p>
          <a:p>
            <a:pPr marL="0" indent="0">
              <a:buNone/>
            </a:pPr>
            <a:r>
              <a:rPr lang="de-DE"/>
              <a:t>- Defensiv -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Shift-</a:t>
            </a:r>
            <a:r>
              <a:rPr lang="de-DE" err="1"/>
              <a:t>Left</a:t>
            </a:r>
            <a:r>
              <a:rPr lang="de-DE"/>
              <a:t>: Fehler beim Entwickeln finden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Lasst uns versuchen etwas Spaß daran zu finden.</a:t>
            </a:r>
          </a:p>
          <a:p>
            <a:pPr marL="0" indent="0">
              <a:buNone/>
            </a:pPr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5E21433-B2F7-3767-5B0F-7F50EA8EAB9B}"/>
              </a:ext>
            </a:extLst>
          </p:cNvPr>
          <p:cNvSpPr/>
          <p:nvPr/>
        </p:nvSpPr>
        <p:spPr>
          <a:xfrm>
            <a:off x="0" y="6660292"/>
            <a:ext cx="4064000" cy="197708"/>
          </a:xfrm>
          <a:prstGeom prst="rect">
            <a:avLst/>
          </a:prstGeom>
          <a:solidFill>
            <a:srgbClr val="4545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4" descr="Comparing the average cost of common software development techniques">
            <a:extLst>
              <a:ext uri="{FF2B5EF4-FFF2-40B4-BE49-F238E27FC236}">
                <a16:creationId xmlns:a16="http://schemas.microsoft.com/office/drawing/2014/main" id="{92CC8ABF-414E-FB1A-1E65-54F3F44BD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551" y="2244436"/>
            <a:ext cx="4463733" cy="345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8FE808E0-5AEA-E8EC-87E6-F1CBF2749E9A}"/>
              </a:ext>
            </a:extLst>
          </p:cNvPr>
          <p:cNvSpPr/>
          <p:nvPr/>
        </p:nvSpPr>
        <p:spPr>
          <a:xfrm>
            <a:off x="4064000" y="6660292"/>
            <a:ext cx="2032000" cy="197708"/>
          </a:xfrm>
          <a:prstGeom prst="rect">
            <a:avLst/>
          </a:prstGeom>
          <a:solidFill>
            <a:srgbClr val="0476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Kreis 7">
            <a:extLst>
              <a:ext uri="{FF2B5EF4-FFF2-40B4-BE49-F238E27FC236}">
                <a16:creationId xmlns:a16="http://schemas.microsoft.com/office/drawing/2014/main" id="{6BF5D3D9-810E-DC70-BFBC-EF1D700B8036}"/>
              </a:ext>
            </a:extLst>
          </p:cNvPr>
          <p:cNvSpPr/>
          <p:nvPr/>
        </p:nvSpPr>
        <p:spPr>
          <a:xfrm>
            <a:off x="3004457" y="-805545"/>
            <a:ext cx="7478490" cy="6070807"/>
          </a:xfrm>
          <a:prstGeom prst="pie">
            <a:avLst>
              <a:gd name="adj1" fmla="val 0"/>
              <a:gd name="adj2" fmla="val 5379009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B208DEE3-32A7-39D8-C404-F958E0955E1A}"/>
              </a:ext>
            </a:extLst>
          </p:cNvPr>
          <p:cNvSpPr/>
          <p:nvPr/>
        </p:nvSpPr>
        <p:spPr>
          <a:xfrm>
            <a:off x="7346584" y="1314450"/>
            <a:ext cx="3754804" cy="4205346"/>
          </a:xfrm>
          <a:custGeom>
            <a:avLst/>
            <a:gdLst>
              <a:gd name="connsiteX0" fmla="*/ 1474641 w 1474641"/>
              <a:gd name="connsiteY0" fmla="*/ 0 h 1474641"/>
              <a:gd name="connsiteX1" fmla="*/ 1474641 w 1474641"/>
              <a:gd name="connsiteY1" fmla="*/ 1474641 h 1474641"/>
              <a:gd name="connsiteX2" fmla="*/ 0 w 1474641"/>
              <a:gd name="connsiteY2" fmla="*/ 1474641 h 1474641"/>
              <a:gd name="connsiteX3" fmla="*/ 1474641 w 1474641"/>
              <a:gd name="connsiteY3" fmla="*/ 0 h 1474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4641" h="1474641">
                <a:moveTo>
                  <a:pt x="1474641" y="0"/>
                </a:moveTo>
                <a:lnTo>
                  <a:pt x="1474641" y="1474641"/>
                </a:lnTo>
                <a:lnTo>
                  <a:pt x="0" y="1474641"/>
                </a:lnTo>
                <a:cubicBezTo>
                  <a:pt x="814422" y="1474641"/>
                  <a:pt x="1474641" y="814422"/>
                  <a:pt x="1474641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7" name="Bogen 6">
            <a:extLst>
              <a:ext uri="{FF2B5EF4-FFF2-40B4-BE49-F238E27FC236}">
                <a16:creationId xmlns:a16="http://schemas.microsoft.com/office/drawing/2014/main" id="{D96D3563-7BEE-70AB-EE21-D955447E06E0}"/>
              </a:ext>
            </a:extLst>
          </p:cNvPr>
          <p:cNvSpPr/>
          <p:nvPr/>
        </p:nvSpPr>
        <p:spPr>
          <a:xfrm>
            <a:off x="3148240" y="-2006770"/>
            <a:ext cx="7683258" cy="7493170"/>
          </a:xfrm>
          <a:prstGeom prst="arc">
            <a:avLst>
              <a:gd name="adj1" fmla="val 564375"/>
              <a:gd name="adj2" fmla="val 5534725"/>
            </a:avLst>
          </a:prstGeom>
          <a:noFill/>
          <a:ln w="25400" cap="rnd">
            <a:gradFill flip="none" rotWithShape="1">
              <a:gsLst>
                <a:gs pos="39000">
                  <a:srgbClr val="FFB401"/>
                </a:gs>
                <a:gs pos="0">
                  <a:srgbClr val="00B050"/>
                </a:gs>
                <a:gs pos="100000">
                  <a:srgbClr val="FF0000"/>
                </a:gs>
              </a:gsLst>
              <a:lin ang="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302D929-30A6-EF5D-184B-493981295710}"/>
              </a:ext>
            </a:extLst>
          </p:cNvPr>
          <p:cNvSpPr/>
          <p:nvPr/>
        </p:nvSpPr>
        <p:spPr>
          <a:xfrm>
            <a:off x="9880431" y="5597276"/>
            <a:ext cx="1124406" cy="10908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898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FC8FC2-372F-EE3F-A7C6-773038BE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Arten des </a:t>
            </a:r>
            <a:r>
              <a:rPr lang="de-DE" err="1"/>
              <a:t>Testings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B6CBB2-5530-BFBC-8EB8-5BE3C8EC4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err="1"/>
              <a:t>Pre</a:t>
            </a:r>
            <a:r>
              <a:rPr lang="de-DE"/>
              <a:t>-Code</a:t>
            </a:r>
          </a:p>
          <a:p>
            <a:pPr lvl="1"/>
            <a:r>
              <a:rPr lang="de-DE" err="1"/>
              <a:t>RubberDucking</a:t>
            </a:r>
            <a:endParaRPr lang="de-DE"/>
          </a:p>
          <a:p>
            <a:pPr lvl="1"/>
            <a:r>
              <a:rPr lang="de-DE"/>
              <a:t>Pair </a:t>
            </a:r>
            <a:r>
              <a:rPr lang="de-DE" err="1"/>
              <a:t>Programming</a:t>
            </a:r>
            <a:endParaRPr lang="de-DE"/>
          </a:p>
          <a:p>
            <a:r>
              <a:rPr lang="de-DE" err="1"/>
              <a:t>Codebased</a:t>
            </a:r>
            <a:r>
              <a:rPr lang="de-DE"/>
              <a:t>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Unit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 err="1"/>
              <a:t>Component</a:t>
            </a:r>
            <a:r>
              <a:rPr lang="de-DE"/>
              <a:t>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(API-)Interface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UI-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Integration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System </a:t>
            </a:r>
            <a:r>
              <a:rPr lang="de-DE" err="1"/>
              <a:t>Testing</a:t>
            </a:r>
            <a:endParaRPr lang="de-DE"/>
          </a:p>
          <a:p>
            <a:r>
              <a:rPr lang="de-DE"/>
              <a:t>Post-Code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UI-</a:t>
            </a:r>
            <a:r>
              <a:rPr lang="de-DE" err="1"/>
              <a:t>Testing</a:t>
            </a:r>
            <a:endParaRPr lang="de-DE"/>
          </a:p>
          <a:p>
            <a:endParaRPr lang="de-DE"/>
          </a:p>
          <a:p>
            <a:r>
              <a:rPr lang="de-DE"/>
              <a:t>Viele weitere Ansätze   ;-)</a:t>
            </a:r>
          </a:p>
          <a:p>
            <a:endParaRPr lang="de-DE"/>
          </a:p>
          <a:p>
            <a:r>
              <a:rPr lang="de-DE"/>
              <a:t>Wir nehmen uns 3 Arten vor</a:t>
            </a:r>
          </a:p>
        </p:txBody>
      </p:sp>
    </p:spTree>
    <p:extLst>
      <p:ext uri="{BB962C8B-B14F-4D97-AF65-F5344CB8AC3E}">
        <p14:creationId xmlns:p14="http://schemas.microsoft.com/office/powerpoint/2010/main" val="4260475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8DDD91-FBDB-D9B3-DF1C-F12C631B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Vom Keller zur </a:t>
            </a:r>
            <a:r>
              <a:rPr lang="de-DE" strike="sngStrike"/>
              <a:t>Foo</a:t>
            </a:r>
            <a:r>
              <a:rPr lang="de-DE"/>
              <a:t> </a:t>
            </a:r>
            <a:r>
              <a:rPr lang="de-DE" err="1"/>
              <a:t>Rooftop</a:t>
            </a:r>
            <a:r>
              <a:rPr lang="de-DE"/>
              <a:t>-bar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693C98-2BF4-0DBF-C91E-381579583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Unit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Mutation </a:t>
            </a:r>
            <a:r>
              <a:rPr lang="de-DE" err="1"/>
              <a:t>Testing</a:t>
            </a:r>
            <a:endParaRPr lang="de-DE"/>
          </a:p>
          <a:p>
            <a:endParaRPr lang="de-DE"/>
          </a:p>
          <a:p>
            <a:r>
              <a:rPr lang="de-DE"/>
              <a:t>Integration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Testcontainers</a:t>
            </a:r>
          </a:p>
          <a:p>
            <a:endParaRPr lang="de-DE"/>
          </a:p>
          <a:p>
            <a:r>
              <a:rPr lang="de-DE"/>
              <a:t>System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 err="1"/>
              <a:t>Lasttest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6242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5E70B-C8D5-A081-E68B-01289605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Mutation </a:t>
            </a:r>
            <a:r>
              <a:rPr lang="de-DE" err="1"/>
              <a:t>Testing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3F1AA7-AF8A-83D2-283A-F50BB956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  <a:p>
            <a:r>
              <a:rPr lang="de-DE"/>
              <a:t>Java</a:t>
            </a:r>
          </a:p>
          <a:p>
            <a:pPr lvl="1"/>
            <a:r>
              <a:rPr lang="de-DE" err="1"/>
              <a:t>PiTest</a:t>
            </a:r>
            <a:endParaRPr lang="de-DE"/>
          </a:p>
          <a:p>
            <a:r>
              <a:rPr lang="de-DE"/>
              <a:t>Python</a:t>
            </a:r>
          </a:p>
          <a:p>
            <a:pPr lvl="1"/>
            <a:r>
              <a:rPr lang="de-DE" err="1"/>
              <a:t>mutmut</a:t>
            </a:r>
            <a:endParaRPr lang="de-DE"/>
          </a:p>
          <a:p>
            <a:r>
              <a:rPr lang="de-DE"/>
              <a:t>PHP</a:t>
            </a:r>
          </a:p>
          <a:p>
            <a:pPr lvl="1"/>
            <a:r>
              <a:rPr lang="de-DE" err="1"/>
              <a:t>Infection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835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0BCA6-E105-438C-A5A3-CF335B87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Testing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B1E6D-27EA-3AB1-593B-F51B5E30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/>
              <a:t>Unit Tests</a:t>
            </a:r>
          </a:p>
          <a:p>
            <a:pPr lvl="1"/>
            <a:r>
              <a:rPr lang="de-DE"/>
              <a:t>Genaue Ergebnisse</a:t>
            </a:r>
          </a:p>
          <a:p>
            <a:pPr lvl="1"/>
            <a:r>
              <a:rPr lang="de-DE" err="1"/>
              <a:t>False</a:t>
            </a:r>
            <a:r>
              <a:rPr lang="de-DE"/>
              <a:t> Positives verhindern</a:t>
            </a:r>
          </a:p>
          <a:p>
            <a:pPr lvl="2"/>
            <a:r>
              <a:rPr lang="de-DE"/>
              <a:t>Test </a:t>
            </a:r>
            <a:r>
              <a:rPr lang="de-DE" err="1"/>
              <a:t>driven</a:t>
            </a:r>
            <a:r>
              <a:rPr lang="de-DE"/>
              <a:t> </a:t>
            </a:r>
            <a:r>
              <a:rPr lang="de-DE" err="1"/>
              <a:t>development</a:t>
            </a:r>
            <a:endParaRPr lang="de-DE"/>
          </a:p>
          <a:p>
            <a:pPr lvl="1"/>
            <a:r>
              <a:rPr lang="de-DE" err="1"/>
              <a:t>False</a:t>
            </a:r>
            <a:r>
              <a:rPr lang="de-DE"/>
              <a:t> Negatives </a:t>
            </a:r>
          </a:p>
          <a:p>
            <a:pPr lvl="1"/>
            <a:r>
              <a:rPr lang="de-DE"/>
              <a:t>Tests greifen die Software an und versuchen Fehler zu unterbinden</a:t>
            </a:r>
          </a:p>
          <a:p>
            <a:pPr lvl="1"/>
            <a:endParaRPr lang="de-DE"/>
          </a:p>
          <a:p>
            <a:r>
              <a:rPr lang="de-DE"/>
              <a:t>Testabdeckung</a:t>
            </a:r>
          </a:p>
          <a:p>
            <a:pPr lvl="1"/>
            <a:r>
              <a:rPr lang="de-DE"/>
              <a:t>Komponente</a:t>
            </a:r>
          </a:p>
          <a:p>
            <a:pPr lvl="1"/>
            <a:r>
              <a:rPr lang="de-DE"/>
              <a:t>Funktion</a:t>
            </a:r>
          </a:p>
          <a:p>
            <a:pPr lvl="1"/>
            <a:r>
              <a:rPr lang="de-DE"/>
              <a:t>Zeile</a:t>
            </a:r>
          </a:p>
          <a:p>
            <a:pPr lvl="1"/>
            <a:endParaRPr lang="de-DE"/>
          </a:p>
          <a:p>
            <a:r>
              <a:rPr lang="de-DE"/>
              <a:t>Mutation </a:t>
            </a:r>
            <a:r>
              <a:rPr lang="de-DE" err="1"/>
              <a:t>Testing</a:t>
            </a:r>
            <a:endParaRPr lang="de-DE"/>
          </a:p>
          <a:p>
            <a:pPr lvl="1"/>
            <a:r>
              <a:rPr lang="de-DE"/>
              <a:t>Versucht Verfehlungen in der Gesamtheit der Tests zu erkennen.</a:t>
            </a:r>
          </a:p>
          <a:p>
            <a:pPr lvl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6304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1DF878-142E-26B1-A0EC-5F21DA3E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Integration </a:t>
            </a:r>
            <a:r>
              <a:rPr lang="de-DE" err="1"/>
              <a:t>Testing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49B68-34CB-6EAD-6C37-E4C72C215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Testcontainers &amp; Keycloak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67436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F5394-B2A4-F1DA-C77D-E01F2186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Lasttest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DDA818-72B5-A096-E74C-24E2FC2AE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K6</a:t>
            </a:r>
          </a:p>
          <a:p>
            <a:pPr lvl="1"/>
            <a:r>
              <a:rPr lang="de-DE"/>
              <a:t>Prometheus &amp; </a:t>
            </a:r>
            <a:r>
              <a:rPr lang="de-DE" err="1"/>
              <a:t>Graphana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8043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F8FEF-EE17-8C7B-517F-152D9C0A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Takeaway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75ED-F94E-FAD3-F3E0-648509DD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08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1442</Words>
  <Application>Microsoft Macintosh PowerPoint</Application>
  <PresentationFormat>Breitbild</PresentationFormat>
  <Paragraphs>437</Paragraphs>
  <Slides>55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55</vt:i4>
      </vt:variant>
    </vt:vector>
  </HeadingPairs>
  <TitlesOfParts>
    <vt:vector size="60" baseType="lpstr">
      <vt:lpstr>Aptos</vt:lpstr>
      <vt:lpstr>Arial</vt:lpstr>
      <vt:lpstr>Consolas</vt:lpstr>
      <vt:lpstr>Verdana</vt:lpstr>
      <vt:lpstr>Office</vt:lpstr>
      <vt:lpstr>Testing-Elevator</vt:lpstr>
      <vt:lpstr>Agenda</vt:lpstr>
      <vt:lpstr>PowerPoint-Präsentation</vt:lpstr>
      <vt:lpstr>.pre – Expertise</vt:lpstr>
      <vt:lpstr>.pre - Einordnung</vt:lpstr>
      <vt:lpstr>.pre – Ziele</vt:lpstr>
      <vt:lpstr>.pre – Java Microservice</vt:lpstr>
      <vt:lpstr>.pre – Vorgehen (1/2)</vt:lpstr>
      <vt:lpstr>.pre – Vorgehen (2/2)</vt:lpstr>
      <vt:lpstr>.pre – Szenario (1/x)</vt:lpstr>
      <vt:lpstr>PowerPoint-Präsentation</vt:lpstr>
      <vt:lpstr>Untergeschoss – Die Grundlagen</vt:lpstr>
      <vt:lpstr>Was macht einen guten Test aus</vt:lpstr>
      <vt:lpstr>Unittest</vt:lpstr>
      <vt:lpstr>Code #1</vt:lpstr>
      <vt:lpstr>Libraries</vt:lpstr>
      <vt:lpstr>Unittests =&gt; Testabdeckung</vt:lpstr>
      <vt:lpstr>Code #2</vt:lpstr>
      <vt:lpstr>Take aways</vt:lpstr>
      <vt:lpstr>PowerPoint-Präsentation</vt:lpstr>
      <vt:lpstr>Erdgeschoss – Mutationen</vt:lpstr>
      <vt:lpstr>Libraries</vt:lpstr>
      <vt:lpstr>Code #3</vt:lpstr>
      <vt:lpstr>Take aways</vt:lpstr>
      <vt:lpstr>PowerPoint-Präsentation</vt:lpstr>
      <vt:lpstr>Mittelgeschoss – Containerization</vt:lpstr>
      <vt:lpstr>Gängige Technologien</vt:lpstr>
      <vt:lpstr>Code #4</vt:lpstr>
      <vt:lpstr>Take aways</vt:lpstr>
      <vt:lpstr>PowerPoint-Präsentation</vt:lpstr>
      <vt:lpstr>Obergeschoss – Integrationstest</vt:lpstr>
      <vt:lpstr>Library - Testcontainers</vt:lpstr>
      <vt:lpstr>Code #5</vt:lpstr>
      <vt:lpstr>Take aways</vt:lpstr>
      <vt:lpstr>PowerPoint-Präsentation</vt:lpstr>
      <vt:lpstr>Rooftop – Lasttest</vt:lpstr>
      <vt:lpstr>Exkurs - Threads</vt:lpstr>
      <vt:lpstr>Take aways</vt:lpstr>
      <vt:lpstr>PowerPoint-Präsentation</vt:lpstr>
      <vt:lpstr>Käsescheiben</vt:lpstr>
      <vt:lpstr>Jeder Test bleibt erstmal ..</vt:lpstr>
      <vt:lpstr>PowerPoint-Präsentation</vt:lpstr>
      <vt:lpstr>PowerPoint-Präsentation</vt:lpstr>
      <vt:lpstr>PowerPoint-Präsentation</vt:lpstr>
      <vt:lpstr>PowerPoint-Präsentation</vt:lpstr>
      <vt:lpstr>Unittest</vt:lpstr>
      <vt:lpstr>Voraussetzungen</vt:lpstr>
      <vt:lpstr>Warum testen wir?</vt:lpstr>
      <vt:lpstr>Arten des Testings</vt:lpstr>
      <vt:lpstr>Vom Keller zur Foo Rooftop-bar</vt:lpstr>
      <vt:lpstr>Mutation Testing</vt:lpstr>
      <vt:lpstr>Testing</vt:lpstr>
      <vt:lpstr>Integration Testing</vt:lpstr>
      <vt:lpstr>Lasttest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Braun</dc:creator>
  <cp:lastModifiedBy>Dominik Braun</cp:lastModifiedBy>
  <cp:revision>80</cp:revision>
  <dcterms:created xsi:type="dcterms:W3CDTF">2026-02-01T11:09:00Z</dcterms:created>
  <dcterms:modified xsi:type="dcterms:W3CDTF">2026-03-26T23:45:27Z</dcterms:modified>
</cp:coreProperties>
</file>